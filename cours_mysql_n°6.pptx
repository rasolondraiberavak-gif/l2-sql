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80" d="100"/>
          <a:sy n="80" d="100"/>
        </p:scale>
        <p:origin x="-1086" y="17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ectangle à coins arrondis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ous-titr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smtClean="0"/>
              <a:t>Cliquez pour modifier le style des sous-titres du masque</a:t>
            </a:r>
            <a:endParaRPr kumimoji="0" lang="en-US"/>
          </a:p>
        </p:txBody>
      </p:sp>
      <p:sp>
        <p:nvSpPr>
          <p:cNvPr id="28" name="Espace réservé de la date 27"/>
          <p:cNvSpPr>
            <a:spLocks noGrp="1"/>
          </p:cNvSpPr>
          <p:nvPr>
            <p:ph type="dt" sz="half" idx="10"/>
          </p:nvPr>
        </p:nvSpPr>
        <p:spPr/>
        <p:txBody>
          <a:bodyPr/>
          <a:lstStyle/>
          <a:p>
            <a:fld id="{F69ECEAB-D2A0-49C0-B885-67E26AFAC993}" type="datetimeFigureOut">
              <a:rPr lang="fr-FR" smtClean="0"/>
              <a:pPr/>
              <a:t>11/05/2020</a:t>
            </a:fld>
            <a:endParaRPr lang="fr-FR"/>
          </a:p>
        </p:txBody>
      </p:sp>
      <p:sp>
        <p:nvSpPr>
          <p:cNvPr id="17" name="Espace réservé du pied de page 16"/>
          <p:cNvSpPr>
            <a:spLocks noGrp="1"/>
          </p:cNvSpPr>
          <p:nvPr>
            <p:ph type="ftr" sz="quarter" idx="11"/>
          </p:nvPr>
        </p:nvSpPr>
        <p:spPr/>
        <p:txBody>
          <a:bodyPr/>
          <a:lstStyle/>
          <a:p>
            <a:endParaRPr lang="fr-FR"/>
          </a:p>
        </p:txBody>
      </p:sp>
      <p:sp>
        <p:nvSpPr>
          <p:cNvPr id="29" name="Espace réservé du numéro de diapositive 28"/>
          <p:cNvSpPr>
            <a:spLocks noGrp="1"/>
          </p:cNvSpPr>
          <p:nvPr>
            <p:ph type="sldNum" sz="quarter" idx="12"/>
          </p:nvPr>
        </p:nvSpPr>
        <p:spPr/>
        <p:txBody>
          <a:bodyPr lIns="0" tIns="0" rIns="0" bIns="0">
            <a:noAutofit/>
          </a:bodyPr>
          <a:lstStyle>
            <a:lvl1pPr>
              <a:defRPr sz="1400">
                <a:solidFill>
                  <a:srgbClr val="FFFFFF"/>
                </a:solidFill>
              </a:defRPr>
            </a:lvl1pPr>
          </a:lstStyle>
          <a:p>
            <a:fld id="{ED977604-8DBC-4687-B3BF-A0FAF9C1E3F5}" type="slidenum">
              <a:rPr lang="fr-FR" smtClean="0"/>
              <a:pPr/>
              <a:t>‹N°›</a:t>
            </a:fld>
            <a:endParaRPr lang="fr-FR"/>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r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4" name="Espace réservé de la date 3"/>
          <p:cNvSpPr>
            <a:spLocks noGrp="1"/>
          </p:cNvSpPr>
          <p:nvPr>
            <p:ph type="dt" sz="half" idx="10"/>
          </p:nvPr>
        </p:nvSpPr>
        <p:spPr/>
        <p:txBody>
          <a:bodyPr/>
          <a:lstStyle/>
          <a:p>
            <a:fld id="{F69ECEAB-D2A0-49C0-B885-67E26AFAC993}" type="datetimeFigureOut">
              <a:rPr lang="fr-FR" smtClean="0"/>
              <a:pPr/>
              <a:t>11/05/2020</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D977604-8DBC-4687-B3BF-A0FAF9C1E3F5}" type="slidenum">
              <a:rPr lang="fr-FR" smtClean="0"/>
              <a:pPr/>
              <a:t>‹N°›</a:t>
            </a:fld>
            <a:endParaRPr lang="fr-FR"/>
          </a:p>
        </p:txBody>
      </p:sp>
      <p:sp>
        <p:nvSpPr>
          <p:cNvPr id="8" name="Espace réservé du contenu 7"/>
          <p:cNvSpPr>
            <a:spLocks noGrp="1"/>
          </p:cNvSpPr>
          <p:nvPr>
            <p:ph sz="quarter" idx="1"/>
          </p:nvPr>
        </p:nvSpPr>
        <p:spPr>
          <a:xfrm>
            <a:off x="914400" y="1447800"/>
            <a:ext cx="7772400" cy="45720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ectangle à coins arrondis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Cliquez pour modifier les styles du texte du masque</a:t>
            </a:r>
          </a:p>
        </p:txBody>
      </p:sp>
      <p:sp>
        <p:nvSpPr>
          <p:cNvPr id="4" name="Espace réservé de la date 3"/>
          <p:cNvSpPr>
            <a:spLocks noGrp="1"/>
          </p:cNvSpPr>
          <p:nvPr>
            <p:ph type="dt" sz="half" idx="10"/>
          </p:nvPr>
        </p:nvSpPr>
        <p:spPr/>
        <p:txBody>
          <a:bodyPr/>
          <a:lstStyle/>
          <a:p>
            <a:fld id="{F69ECEAB-D2A0-49C0-B885-67E26AFAC993}" type="datetimeFigureOut">
              <a:rPr lang="fr-FR" smtClean="0"/>
              <a:pPr/>
              <a:t>11/05/2020</a:t>
            </a:fld>
            <a:endParaRPr lang="fr-FR"/>
          </a:p>
        </p:txBody>
      </p:sp>
      <p:sp>
        <p:nvSpPr>
          <p:cNvPr id="5" name="Espace réservé du pied de page 4"/>
          <p:cNvSpPr>
            <a:spLocks noGrp="1"/>
          </p:cNvSpPr>
          <p:nvPr>
            <p:ph type="ftr" sz="quarter" idx="11"/>
          </p:nvPr>
        </p:nvSpPr>
        <p:spPr>
          <a:xfrm>
            <a:off x="800100" y="6172200"/>
            <a:ext cx="4000500" cy="457200"/>
          </a:xfrm>
        </p:spPr>
        <p:txBody>
          <a:bodyPr/>
          <a:lstStyle/>
          <a:p>
            <a:endParaRPr lang="fr-FR"/>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146304" y="6208776"/>
            <a:ext cx="457200" cy="457200"/>
          </a:xfrm>
        </p:spPr>
        <p:txBody>
          <a:bodyPr/>
          <a:lstStyle/>
          <a:p>
            <a:fld id="{ED977604-8DBC-4687-B3BF-A0FAF9C1E3F5}" type="slidenum">
              <a:rPr lang="fr-FR" smtClean="0"/>
              <a:pPr/>
              <a:t>‹N°›</a:t>
            </a:fld>
            <a:endParaRPr lang="fr-F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5" name="Espace réservé de la date 4"/>
          <p:cNvSpPr>
            <a:spLocks noGrp="1"/>
          </p:cNvSpPr>
          <p:nvPr>
            <p:ph type="dt" sz="half" idx="10"/>
          </p:nvPr>
        </p:nvSpPr>
        <p:spPr/>
        <p:txBody>
          <a:bodyPr/>
          <a:lstStyle/>
          <a:p>
            <a:fld id="{F69ECEAB-D2A0-49C0-B885-67E26AFAC993}" type="datetimeFigureOut">
              <a:rPr lang="fr-FR" smtClean="0"/>
              <a:pPr/>
              <a:t>11/05/2020</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ED977604-8DBC-4687-B3BF-A0FAF9C1E3F5}" type="slidenum">
              <a:rPr lang="fr-FR" smtClean="0"/>
              <a:pPr/>
              <a:t>‹N°›</a:t>
            </a:fld>
            <a:endParaRPr lang="fr-FR"/>
          </a:p>
        </p:txBody>
      </p:sp>
      <p:sp>
        <p:nvSpPr>
          <p:cNvPr id="9" name="Espace réservé du contenu 8"/>
          <p:cNvSpPr>
            <a:spLocks noGrp="1"/>
          </p:cNvSpPr>
          <p:nvPr>
            <p:ph sz="quarter" idx="1"/>
          </p:nvPr>
        </p:nvSpPr>
        <p:spPr>
          <a:xfrm>
            <a:off x="914400" y="1447800"/>
            <a:ext cx="3749040" cy="45720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1" name="Espace réservé du contenu 10"/>
          <p:cNvSpPr>
            <a:spLocks noGrp="1"/>
          </p:cNvSpPr>
          <p:nvPr>
            <p:ph sz="quarter" idx="2"/>
          </p:nvPr>
        </p:nvSpPr>
        <p:spPr>
          <a:xfrm>
            <a:off x="4933950" y="1447800"/>
            <a:ext cx="3749040" cy="45720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914400" y="273050"/>
            <a:ext cx="7772400" cy="1143000"/>
          </a:xfrm>
        </p:spPr>
        <p:txBody>
          <a:bodyPr anchor="b" anchorCtr="0"/>
          <a:lstStyle>
            <a:lvl1pPr>
              <a:defRPr/>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4" name="Espace réservé du texte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7" name="Espace réservé de la date 6"/>
          <p:cNvSpPr>
            <a:spLocks noGrp="1"/>
          </p:cNvSpPr>
          <p:nvPr>
            <p:ph type="dt" sz="half" idx="10"/>
          </p:nvPr>
        </p:nvSpPr>
        <p:spPr/>
        <p:txBody>
          <a:bodyPr/>
          <a:lstStyle/>
          <a:p>
            <a:fld id="{F69ECEAB-D2A0-49C0-B885-67E26AFAC993}" type="datetimeFigureOut">
              <a:rPr lang="fr-FR" smtClean="0"/>
              <a:pPr/>
              <a:t>11/05/2020</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ED977604-8DBC-4687-B3BF-A0FAF9C1E3F5}" type="slidenum">
              <a:rPr lang="fr-FR" smtClean="0"/>
              <a:pPr/>
              <a:t>‹N°›</a:t>
            </a:fld>
            <a:endParaRPr lang="fr-FR"/>
          </a:p>
        </p:txBody>
      </p:sp>
      <p:sp>
        <p:nvSpPr>
          <p:cNvPr id="11" name="Espace réservé du contenu 10"/>
          <p:cNvSpPr>
            <a:spLocks noGrp="1"/>
          </p:cNvSpPr>
          <p:nvPr>
            <p:ph sz="half" idx="2"/>
          </p:nvPr>
        </p:nvSpPr>
        <p:spPr>
          <a:xfrm>
            <a:off x="914400" y="2247900"/>
            <a:ext cx="3733800" cy="38862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3" name="Espace réservé du contenu 12"/>
          <p:cNvSpPr>
            <a:spLocks noGrp="1"/>
          </p:cNvSpPr>
          <p:nvPr>
            <p:ph sz="half" idx="4"/>
          </p:nvPr>
        </p:nvSpPr>
        <p:spPr>
          <a:xfrm>
            <a:off x="4953000" y="2247900"/>
            <a:ext cx="3733800" cy="38862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e la date 2"/>
          <p:cNvSpPr>
            <a:spLocks noGrp="1"/>
          </p:cNvSpPr>
          <p:nvPr>
            <p:ph type="dt" sz="half" idx="10"/>
          </p:nvPr>
        </p:nvSpPr>
        <p:spPr/>
        <p:txBody>
          <a:bodyPr/>
          <a:lstStyle/>
          <a:p>
            <a:fld id="{F69ECEAB-D2A0-49C0-B885-67E26AFAC993}" type="datetimeFigureOut">
              <a:rPr lang="fr-FR" smtClean="0"/>
              <a:pPr/>
              <a:t>11/05/2020</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ED977604-8DBC-4687-B3BF-A0FAF9C1E3F5}"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F69ECEAB-D2A0-49C0-B885-67E26AFAC993}" type="datetimeFigureOut">
              <a:rPr lang="fr-FR" smtClean="0"/>
              <a:pPr/>
              <a:t>11/05/2020</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ED977604-8DBC-4687-B3BF-A0FAF9C1E3F5}"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ectangle à coins arrondis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914400" y="273050"/>
            <a:ext cx="7772400" cy="1143000"/>
          </a:xfrm>
        </p:spPr>
        <p:txBody>
          <a:bodyPr anchor="b" anchorCtr="0"/>
          <a:lstStyle>
            <a:lvl1pPr algn="l">
              <a:buNone/>
              <a:defRPr sz="4000" b="0"/>
            </a:lvl1pPr>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fr-FR" smtClean="0"/>
              <a:t>Cliquez pour modifier les styles du texte du masque</a:t>
            </a:r>
          </a:p>
        </p:txBody>
      </p:sp>
      <p:sp>
        <p:nvSpPr>
          <p:cNvPr id="5" name="Espace réservé de la date 4"/>
          <p:cNvSpPr>
            <a:spLocks noGrp="1"/>
          </p:cNvSpPr>
          <p:nvPr>
            <p:ph type="dt" sz="half" idx="10"/>
          </p:nvPr>
        </p:nvSpPr>
        <p:spPr/>
        <p:txBody>
          <a:bodyPr/>
          <a:lstStyle/>
          <a:p>
            <a:fld id="{F69ECEAB-D2A0-49C0-B885-67E26AFAC993}" type="datetimeFigureOut">
              <a:rPr lang="fr-FR" smtClean="0"/>
              <a:pPr/>
              <a:t>11/05/2020</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ED977604-8DBC-4687-B3BF-A0FAF9C1E3F5}" type="slidenum">
              <a:rPr lang="fr-FR" smtClean="0"/>
              <a:pPr/>
              <a:t>‹N°›</a:t>
            </a:fld>
            <a:endParaRPr lang="fr-FR"/>
          </a:p>
        </p:txBody>
      </p:sp>
      <p:sp>
        <p:nvSpPr>
          <p:cNvPr id="11" name="Espace réservé du contenu 10"/>
          <p:cNvSpPr>
            <a:spLocks noGrp="1"/>
          </p:cNvSpPr>
          <p:nvPr>
            <p:ph sz="quarter" idx="1"/>
          </p:nvPr>
        </p:nvSpPr>
        <p:spPr>
          <a:xfrm>
            <a:off x="2971800" y="1600200"/>
            <a:ext cx="5715000" cy="44958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fr-FR" smtClean="0"/>
              <a:t>Cliquez pour modifier le style du titre</a:t>
            </a:r>
            <a:endParaRPr kumimoji="0" lang="en-US"/>
          </a:p>
        </p:txBody>
      </p:sp>
      <p:sp>
        <p:nvSpPr>
          <p:cNvPr id="4" name="Espace réservé du texte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fr-FR" smtClean="0"/>
              <a:t>Cliquez pour modifier les styles du texte du masque</a:t>
            </a:r>
          </a:p>
        </p:txBody>
      </p:sp>
      <p:sp>
        <p:nvSpPr>
          <p:cNvPr id="5" name="Espace réservé de la date 4"/>
          <p:cNvSpPr>
            <a:spLocks noGrp="1"/>
          </p:cNvSpPr>
          <p:nvPr>
            <p:ph type="dt" sz="half" idx="10"/>
          </p:nvPr>
        </p:nvSpPr>
        <p:spPr/>
        <p:txBody>
          <a:bodyPr/>
          <a:lstStyle/>
          <a:p>
            <a:fld id="{F69ECEAB-D2A0-49C0-B885-67E26AFAC993}" type="datetimeFigureOut">
              <a:rPr lang="fr-FR" smtClean="0"/>
              <a:pPr/>
              <a:t>11/05/2020</a:t>
            </a:fld>
            <a:endParaRPr lang="fr-FR"/>
          </a:p>
        </p:txBody>
      </p:sp>
      <p:sp>
        <p:nvSpPr>
          <p:cNvPr id="6" name="Espace réservé du pied de page 5"/>
          <p:cNvSpPr>
            <a:spLocks noGrp="1"/>
          </p:cNvSpPr>
          <p:nvPr>
            <p:ph type="ftr" sz="quarter" idx="11"/>
          </p:nvPr>
        </p:nvSpPr>
        <p:spPr>
          <a:xfrm>
            <a:off x="914400" y="6172200"/>
            <a:ext cx="3886200" cy="457200"/>
          </a:xfrm>
        </p:spPr>
        <p:txBody>
          <a:bodyPr/>
          <a:lstStyle/>
          <a:p>
            <a:endParaRPr lang="fr-FR"/>
          </a:p>
        </p:txBody>
      </p:sp>
      <p:sp>
        <p:nvSpPr>
          <p:cNvPr id="7" name="Espace réservé du numéro de diapositive 6"/>
          <p:cNvSpPr>
            <a:spLocks noGrp="1"/>
          </p:cNvSpPr>
          <p:nvPr>
            <p:ph type="sldNum" sz="quarter" idx="12"/>
          </p:nvPr>
        </p:nvSpPr>
        <p:spPr>
          <a:xfrm>
            <a:off x="146304" y="6208776"/>
            <a:ext cx="457200" cy="457200"/>
          </a:xfrm>
        </p:spPr>
        <p:txBody>
          <a:bodyPr/>
          <a:lstStyle/>
          <a:p>
            <a:fld id="{ED977604-8DBC-4687-B3BF-A0FAF9C1E3F5}" type="slidenum">
              <a:rPr lang="fr-FR" smtClean="0"/>
              <a:pPr/>
              <a:t>‹N°›</a:t>
            </a:fld>
            <a:endParaRPr lang="fr-FR"/>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Espace réservé pour une image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fr-FR" smtClean="0"/>
              <a:t>Cliquez sur l'icône pour ajouter une image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F69ECEAB-D2A0-49C0-B885-67E26AFAC993}" type="datetimeFigureOut">
              <a:rPr lang="fr-FR" smtClean="0"/>
              <a:pPr/>
              <a:t>11/05/2020</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D977604-8DBC-4687-B3BF-A0FAF9C1E3F5}"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41"/>
            <a:ext cx="2011680" cy="5851525"/>
          </a:xfrm>
        </p:spPr>
        <p:txBody>
          <a:bodyPr vert="eaVert"/>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a:xfrm>
            <a:off x="914400" y="274640"/>
            <a:ext cx="5562600" cy="5851525"/>
          </a:xfrm>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F69ECEAB-D2A0-49C0-B885-67E26AFAC993}" type="datetimeFigureOut">
              <a:rPr lang="fr-FR" smtClean="0"/>
              <a:pPr/>
              <a:t>11/05/2020</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D977604-8DBC-4687-B3BF-A0FAF9C1E3F5}"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ectangle à coins arrondis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Espace réservé du titre 21"/>
          <p:cNvSpPr>
            <a:spLocks noGrp="1"/>
          </p:cNvSpPr>
          <p:nvPr>
            <p:ph type="title"/>
          </p:nvPr>
        </p:nvSpPr>
        <p:spPr>
          <a:xfrm>
            <a:off x="914400" y="274638"/>
            <a:ext cx="7772400" cy="1143000"/>
          </a:xfrm>
          <a:prstGeom prst="rect">
            <a:avLst/>
          </a:prstGeom>
        </p:spPr>
        <p:txBody>
          <a:bodyPr bIns="91440" anchor="b" anchorCtr="0">
            <a:normAutofit/>
          </a:bodyPr>
          <a:lstStyle/>
          <a:p>
            <a:r>
              <a:rPr kumimoji="0" lang="fr-FR" smtClean="0"/>
              <a:t>Cliquez pour modifier le style du titre</a:t>
            </a:r>
            <a:endParaRPr kumimoji="0" lang="en-US"/>
          </a:p>
        </p:txBody>
      </p:sp>
      <p:sp>
        <p:nvSpPr>
          <p:cNvPr id="13" name="Espace réservé du texte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
        <p:nvSpPr>
          <p:cNvPr id="14" name="Espace réservé de la date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F69ECEAB-D2A0-49C0-B885-67E26AFAC993}" type="datetimeFigureOut">
              <a:rPr lang="fr-FR" smtClean="0"/>
              <a:pPr/>
              <a:t>11/05/2020</a:t>
            </a:fld>
            <a:endParaRPr lang="fr-FR"/>
          </a:p>
        </p:txBody>
      </p:sp>
      <p:sp>
        <p:nvSpPr>
          <p:cNvPr id="3" name="Espace réservé du pied de page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fr-FR"/>
          </a:p>
        </p:txBody>
      </p:sp>
      <p:sp>
        <p:nvSpPr>
          <p:cNvPr id="23" name="Espace réservé du numéro de diapositive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ED977604-8DBC-4687-B3BF-A0FAF9C1E3F5}"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p:txBody>
          <a:bodyPr/>
          <a:lstStyle/>
          <a:p>
            <a:endParaRPr lang="fr-FR"/>
          </a:p>
        </p:txBody>
      </p:sp>
      <p:sp>
        <p:nvSpPr>
          <p:cNvPr id="2" name="Titre 1"/>
          <p:cNvSpPr>
            <a:spLocks noGrp="1"/>
          </p:cNvSpPr>
          <p:nvPr>
            <p:ph type="ctrTitle"/>
          </p:nvPr>
        </p:nvSpPr>
        <p:spPr/>
        <p:txBody>
          <a:bodyPr/>
          <a:lstStyle/>
          <a:p>
            <a:r>
              <a:rPr lang="fr-FR" dirty="0" smtClean="0"/>
              <a:t>SQL LMD</a:t>
            </a:r>
            <a:endParaRPr lang="fr-F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LIKE</a:t>
            </a:r>
            <a:endParaRPr lang="fr-FR" b="1" dirty="0"/>
          </a:p>
        </p:txBody>
      </p:sp>
      <p:sp>
        <p:nvSpPr>
          <p:cNvPr id="3" name="Espace réservé du contenu 2"/>
          <p:cNvSpPr>
            <a:spLocks noGrp="1"/>
          </p:cNvSpPr>
          <p:nvPr>
            <p:ph sz="quarter" idx="1"/>
          </p:nvPr>
        </p:nvSpPr>
        <p:spPr>
          <a:xfrm>
            <a:off x="785786" y="2071678"/>
            <a:ext cx="7772400" cy="2571768"/>
          </a:xfrm>
        </p:spPr>
        <p:txBody>
          <a:bodyPr>
            <a:normAutofit/>
          </a:bodyPr>
          <a:lstStyle/>
          <a:p>
            <a:pPr algn="just">
              <a:buNone/>
            </a:pPr>
            <a:r>
              <a:rPr lang="fr-FR" dirty="0" smtClean="0"/>
              <a:t>L’opérateur LIKE est utilisé dans la clause WHERE des requêtes SQL. Ce mot-clé permet d’effectuer une recherche sur un modèle particulier. Il est par exemple possible de rechercher les enregistrements dont la valeur d’une colonne commence par telle ou telle lettre. Les modèles de recherches sont multiple.</a:t>
            </a:r>
            <a:endParaRPr lang="fr-FR"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LIKE</a:t>
            </a:r>
            <a:endParaRPr lang="fr-FR" dirty="0"/>
          </a:p>
        </p:txBody>
      </p:sp>
      <p:sp>
        <p:nvSpPr>
          <p:cNvPr id="4" name="Rectangle 3"/>
          <p:cNvSpPr/>
          <p:nvPr/>
        </p:nvSpPr>
        <p:spPr>
          <a:xfrm>
            <a:off x="928662" y="2000240"/>
            <a:ext cx="6715172" cy="369332"/>
          </a:xfrm>
          <a:prstGeom prst="rect">
            <a:avLst/>
          </a:prstGeom>
        </p:spPr>
        <p:txBody>
          <a:bodyPr wrap="square">
            <a:spAutoFit/>
          </a:bodyPr>
          <a:lstStyle/>
          <a:p>
            <a:r>
              <a:rPr lang="fr-FR" dirty="0" smtClean="0"/>
              <a:t>La syntaxe à utiliser pour utiliser l’opérateur LIKE est la suivante :</a:t>
            </a:r>
            <a:endParaRPr lang="fr-FR" dirty="0"/>
          </a:p>
        </p:txBody>
      </p:sp>
      <p:pic>
        <p:nvPicPr>
          <p:cNvPr id="1026" name="Picture 2"/>
          <p:cNvPicPr>
            <a:picLocks noChangeAspect="1" noChangeArrowheads="1"/>
          </p:cNvPicPr>
          <p:nvPr/>
        </p:nvPicPr>
        <p:blipFill>
          <a:blip r:embed="rId2"/>
          <a:srcRect/>
          <a:stretch>
            <a:fillRect/>
          </a:stretch>
        </p:blipFill>
        <p:spPr bwMode="auto">
          <a:xfrm>
            <a:off x="1285852" y="2571744"/>
            <a:ext cx="5476875" cy="714375"/>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LIKE</a:t>
            </a:r>
            <a:endParaRPr lang="fr-FR" dirty="0"/>
          </a:p>
        </p:txBody>
      </p:sp>
      <p:sp>
        <p:nvSpPr>
          <p:cNvPr id="4" name="Rectangle 3"/>
          <p:cNvSpPr/>
          <p:nvPr/>
        </p:nvSpPr>
        <p:spPr>
          <a:xfrm>
            <a:off x="928662" y="2000240"/>
            <a:ext cx="6715172" cy="2862322"/>
          </a:xfrm>
          <a:prstGeom prst="rect">
            <a:avLst/>
          </a:prstGeom>
        </p:spPr>
        <p:txBody>
          <a:bodyPr wrap="square">
            <a:spAutoFit/>
          </a:bodyPr>
          <a:lstStyle/>
          <a:p>
            <a:r>
              <a:rPr lang="fr-FR" dirty="0" smtClean="0"/>
              <a:t>LIKE ‘%a’ : le caractère « % » est un caractère joker qui remplace tous les autres caractères. Ainsi, ce modèle permet de rechercher toutes les chaines de caractère qui se termine par un « a ». </a:t>
            </a:r>
            <a:endParaRPr lang="fr-FR" dirty="0" smtClean="0"/>
          </a:p>
          <a:p>
            <a:endParaRPr lang="fr-FR" dirty="0" smtClean="0"/>
          </a:p>
          <a:p>
            <a:r>
              <a:rPr lang="fr-FR" dirty="0" smtClean="0"/>
              <a:t>• </a:t>
            </a:r>
            <a:r>
              <a:rPr lang="fr-FR" dirty="0" smtClean="0"/>
              <a:t>LIKE ‘a%’ : ce modèle permet de rechercher toutes les lignes de « colonne » qui commence par un « a ». </a:t>
            </a:r>
            <a:endParaRPr lang="fr-FR" dirty="0" smtClean="0"/>
          </a:p>
          <a:p>
            <a:endParaRPr lang="fr-FR" dirty="0" smtClean="0"/>
          </a:p>
          <a:p>
            <a:r>
              <a:rPr lang="fr-FR" dirty="0" smtClean="0"/>
              <a:t>• </a:t>
            </a:r>
            <a:r>
              <a:rPr lang="fr-FR" dirty="0" smtClean="0"/>
              <a:t>LIKE ‘%a%’ : ce modèle est utilisé pour rechercher tous les enregistrement qui utilisent le caractère « a ». </a:t>
            </a:r>
            <a:endParaRPr lang="fr-FR" dirty="0" smtClean="0"/>
          </a:p>
          <a:p>
            <a:endParaRPr lang="fr-FR" dirty="0" smtClean="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LIKE</a:t>
            </a:r>
            <a:endParaRPr lang="fr-FR" dirty="0"/>
          </a:p>
        </p:txBody>
      </p:sp>
      <p:sp>
        <p:nvSpPr>
          <p:cNvPr id="4" name="Rectangle 3"/>
          <p:cNvSpPr/>
          <p:nvPr/>
        </p:nvSpPr>
        <p:spPr>
          <a:xfrm>
            <a:off x="928662" y="2000240"/>
            <a:ext cx="6715172" cy="2308324"/>
          </a:xfrm>
          <a:prstGeom prst="rect">
            <a:avLst/>
          </a:prstGeom>
        </p:spPr>
        <p:txBody>
          <a:bodyPr wrap="square">
            <a:spAutoFit/>
          </a:bodyPr>
          <a:lstStyle/>
          <a:p>
            <a:r>
              <a:rPr lang="fr-FR" dirty="0" smtClean="0"/>
              <a:t>• LIKE ‘</a:t>
            </a:r>
            <a:r>
              <a:rPr lang="fr-FR" dirty="0" err="1" smtClean="0"/>
              <a:t>pa%on</a:t>
            </a:r>
            <a:r>
              <a:rPr lang="fr-FR" dirty="0" smtClean="0"/>
              <a:t>’ : ce modèle permet de rechercher les chaines qui commence par « </a:t>
            </a:r>
            <a:r>
              <a:rPr lang="fr-FR" dirty="0" err="1" smtClean="0"/>
              <a:t>pa</a:t>
            </a:r>
            <a:r>
              <a:rPr lang="fr-FR" dirty="0" smtClean="0"/>
              <a:t> » et qui se terminent par « on », comme « pantalon » ou « pardon </a:t>
            </a:r>
            <a:r>
              <a:rPr lang="fr-FR" dirty="0" smtClean="0"/>
              <a:t>».</a:t>
            </a:r>
          </a:p>
          <a:p>
            <a:endParaRPr lang="fr-FR" dirty="0" smtClean="0"/>
          </a:p>
          <a:p>
            <a:pPr>
              <a:buFont typeface="Arial" pitchFamily="34" charset="0"/>
              <a:buChar char="•"/>
            </a:pPr>
            <a:r>
              <a:rPr lang="fr-FR" dirty="0" smtClean="0"/>
              <a:t> LIKE ‘</a:t>
            </a:r>
            <a:r>
              <a:rPr lang="fr-FR" dirty="0" err="1" smtClean="0"/>
              <a:t>a_c</a:t>
            </a:r>
            <a:r>
              <a:rPr lang="fr-FR" dirty="0" smtClean="0"/>
              <a:t>’ : peu utilisé, le caractère « _ » (</a:t>
            </a:r>
            <a:r>
              <a:rPr lang="fr-FR" dirty="0" err="1" smtClean="0"/>
              <a:t>underscore</a:t>
            </a:r>
            <a:r>
              <a:rPr lang="fr-FR" dirty="0" smtClean="0"/>
              <a:t>) peut être remplacé par n’importe quel caractère, mais un seul caractère uniquement (alors que le symbole pourcentage « % » peut être remplacé par un nombre incalculable de caractères . Ainsi, ce modèle permet de retourner les lignes « </a:t>
            </a:r>
            <a:r>
              <a:rPr lang="fr-FR" dirty="0" err="1" smtClean="0"/>
              <a:t>aac</a:t>
            </a:r>
            <a:r>
              <a:rPr lang="fr-FR" dirty="0" smtClean="0"/>
              <a:t> », « abc » ou même « </a:t>
            </a:r>
            <a:r>
              <a:rPr lang="fr-FR" dirty="0" err="1" smtClean="0"/>
              <a:t>azc</a:t>
            </a:r>
            <a:r>
              <a:rPr lang="fr-FR" dirty="0" smtClean="0"/>
              <a:t> ».</a:t>
            </a:r>
            <a:endParaRPr lang="fr-F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smtClean="0"/>
              <a:t>IS NULL / IS NOT NULL </a:t>
            </a:r>
            <a:endParaRPr lang="fr-FR" dirty="0"/>
          </a:p>
        </p:txBody>
      </p:sp>
      <p:sp>
        <p:nvSpPr>
          <p:cNvPr id="3" name="Espace réservé du contenu 2"/>
          <p:cNvSpPr>
            <a:spLocks noGrp="1"/>
          </p:cNvSpPr>
          <p:nvPr>
            <p:ph sz="quarter" idx="1"/>
          </p:nvPr>
        </p:nvSpPr>
        <p:spPr/>
        <p:txBody>
          <a:bodyPr/>
          <a:lstStyle/>
          <a:p>
            <a:r>
              <a:rPr lang="fr-FR" dirty="0" smtClean="0"/>
              <a:t>Dans le langage SQL, l’opérateur IS permet de filtrer les résultats qui contiennent la valeur NULL. Cet opérateur est indispensable car la valeur NULL est une valeur inconnue et ne peut par conséquent pas être filtrée par les opérateurs de comparaison (cf. égal, inférieur, supérieur ou différent</a:t>
            </a:r>
            <a:r>
              <a:rPr lang="fr-FR" dirty="0" smtClean="0"/>
              <a:t>).</a:t>
            </a:r>
          </a:p>
          <a:p>
            <a:endParaRPr lang="fr-FR" dirty="0" smtClean="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smtClean="0"/>
              <a:t>IS NULL / IS NOT NULL </a:t>
            </a:r>
            <a:endParaRPr lang="fr-FR" dirty="0"/>
          </a:p>
        </p:txBody>
      </p:sp>
      <p:sp>
        <p:nvSpPr>
          <p:cNvPr id="3" name="Espace réservé du contenu 2"/>
          <p:cNvSpPr>
            <a:spLocks noGrp="1"/>
          </p:cNvSpPr>
          <p:nvPr>
            <p:ph sz="quarter" idx="1"/>
          </p:nvPr>
        </p:nvSpPr>
        <p:spPr/>
        <p:txBody>
          <a:bodyPr/>
          <a:lstStyle/>
          <a:p>
            <a:pPr>
              <a:buFont typeface="Wingdings" pitchFamily="2" charset="2"/>
              <a:buChar char="§"/>
            </a:pPr>
            <a:r>
              <a:rPr lang="fr-FR" dirty="0" smtClean="0"/>
              <a:t>Pour filtrer les résultats où les champs d’une colonne sont à NULL il convient d’utiliser la syntaxe </a:t>
            </a:r>
            <a:r>
              <a:rPr lang="fr-FR" dirty="0" smtClean="0"/>
              <a:t>suivante :</a:t>
            </a:r>
          </a:p>
          <a:p>
            <a:pPr>
              <a:buFont typeface="Wingdings" pitchFamily="2" charset="2"/>
              <a:buChar char="§"/>
            </a:pPr>
            <a:endParaRPr lang="fr-FR" dirty="0" smtClean="0"/>
          </a:p>
          <a:p>
            <a:pPr>
              <a:buFont typeface="Wingdings" pitchFamily="2" charset="2"/>
              <a:buChar char="§"/>
            </a:pPr>
            <a:endParaRPr lang="fr-FR" dirty="0" smtClean="0"/>
          </a:p>
          <a:p>
            <a:pPr>
              <a:buFont typeface="Wingdings" pitchFamily="2" charset="2"/>
              <a:buChar char="§"/>
            </a:pPr>
            <a:endParaRPr lang="fr-FR" dirty="0" smtClean="0"/>
          </a:p>
          <a:p>
            <a:pPr>
              <a:buFont typeface="Wingdings" pitchFamily="2" charset="2"/>
              <a:buChar char="§"/>
            </a:pPr>
            <a:r>
              <a:rPr lang="fr-FR" dirty="0" smtClean="0"/>
              <a:t>A l’inverse, pour filtrer les résultats et obtenir uniquement les enregistrements qui ne sont pas </a:t>
            </a:r>
            <a:r>
              <a:rPr lang="fr-FR" dirty="0" err="1" smtClean="0"/>
              <a:t>null</a:t>
            </a:r>
            <a:r>
              <a:rPr lang="fr-FR" dirty="0" smtClean="0"/>
              <a:t>, il convient d’utiliser la syntaxe suivante :  </a:t>
            </a:r>
          </a:p>
        </p:txBody>
      </p:sp>
      <p:pic>
        <p:nvPicPr>
          <p:cNvPr id="2050" name="Picture 2"/>
          <p:cNvPicPr>
            <a:picLocks noChangeAspect="1" noChangeArrowheads="1"/>
          </p:cNvPicPr>
          <p:nvPr/>
        </p:nvPicPr>
        <p:blipFill>
          <a:blip r:embed="rId2"/>
          <a:srcRect/>
          <a:stretch>
            <a:fillRect/>
          </a:stretch>
        </p:blipFill>
        <p:spPr bwMode="auto">
          <a:xfrm>
            <a:off x="1071538" y="2643182"/>
            <a:ext cx="5457825" cy="695325"/>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1071538" y="5286388"/>
            <a:ext cx="5467350" cy="70485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Exercice 5</a:t>
            </a:r>
            <a:endParaRPr lang="fr-FR" dirty="0"/>
          </a:p>
        </p:txBody>
      </p:sp>
      <p:sp>
        <p:nvSpPr>
          <p:cNvPr id="3" name="Espace réservé du contenu 2"/>
          <p:cNvSpPr>
            <a:spLocks noGrp="1"/>
          </p:cNvSpPr>
          <p:nvPr>
            <p:ph sz="quarter" idx="1"/>
          </p:nvPr>
        </p:nvSpPr>
        <p:spPr/>
        <p:txBody>
          <a:bodyPr/>
          <a:lstStyle/>
          <a:p>
            <a:r>
              <a:rPr lang="fr-FR" dirty="0" smtClean="0"/>
              <a:t>Afficher tous les noms du client qui commencent par A</a:t>
            </a:r>
          </a:p>
          <a:p>
            <a:r>
              <a:rPr lang="fr-FR" dirty="0" smtClean="0"/>
              <a:t>Afficher tous les clients dont leurs noms ou leurs prénoms contiennent RAKOTO</a:t>
            </a:r>
          </a:p>
          <a:p>
            <a:r>
              <a:rPr lang="fr-FR" dirty="0" smtClean="0"/>
              <a:t>Afficher tous les clients qui n’ont pas </a:t>
            </a:r>
            <a:r>
              <a:rPr lang="fr-FR" smtClean="0"/>
              <a:t>de prénom </a:t>
            </a:r>
            <a:endParaRPr lang="fr-FR"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apitaux">
  <a:themeElements>
    <a:clrScheme name="Capitaux">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pitaux">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apitaux">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120</TotalTime>
  <Words>404</Words>
  <Application>Microsoft Office PowerPoint</Application>
  <PresentationFormat>Affichage à l'écran (4:3)</PresentationFormat>
  <Paragraphs>27</Paragraphs>
  <Slides>8</Slides>
  <Notes>0</Notes>
  <HiddenSlides>0</HiddenSlides>
  <MMClips>0</MMClips>
  <ScaleCrop>false</ScaleCrop>
  <HeadingPairs>
    <vt:vector size="4" baseType="variant">
      <vt:variant>
        <vt:lpstr>Thème</vt:lpstr>
      </vt:variant>
      <vt:variant>
        <vt:i4>1</vt:i4>
      </vt:variant>
      <vt:variant>
        <vt:lpstr>Titres des diapositives</vt:lpstr>
      </vt:variant>
      <vt:variant>
        <vt:i4>8</vt:i4>
      </vt:variant>
    </vt:vector>
  </HeadingPairs>
  <TitlesOfParts>
    <vt:vector size="9" baseType="lpstr">
      <vt:lpstr>Capitaux</vt:lpstr>
      <vt:lpstr>SQL LMD</vt:lpstr>
      <vt:lpstr>LIKE</vt:lpstr>
      <vt:lpstr>LIKE</vt:lpstr>
      <vt:lpstr>LIKE</vt:lpstr>
      <vt:lpstr>LIKE</vt:lpstr>
      <vt:lpstr>IS NULL / IS NOT NULL </vt:lpstr>
      <vt:lpstr>IS NULL / IS NOT NULL </vt:lpstr>
      <vt:lpstr>Exercice 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LMD</dc:title>
  <dc:creator>EMIT</dc:creator>
  <cp:lastModifiedBy>EMIT</cp:lastModifiedBy>
  <cp:revision>39</cp:revision>
  <dcterms:created xsi:type="dcterms:W3CDTF">2020-05-11T12:51:34Z</dcterms:created>
  <dcterms:modified xsi:type="dcterms:W3CDTF">2020-05-11T15:00:55Z</dcterms:modified>
</cp:coreProperties>
</file>