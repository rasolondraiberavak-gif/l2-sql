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2" r:id="rId7"/>
    <p:sldId id="261" r:id="rId8"/>
    <p:sldId id="263" r:id="rId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80" d="100"/>
          <a:sy n="80" d="100"/>
        </p:scale>
        <p:origin x="-1086" y="17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ectangle à coins arrondis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ous-titr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17" name="Espace réservé du pied de page 16"/>
          <p:cNvSpPr>
            <a:spLocks noGrp="1"/>
          </p:cNvSpPr>
          <p:nvPr>
            <p:ph type="ftr" sz="quarter" idx="11"/>
          </p:nvPr>
        </p:nvSpPr>
        <p:spPr/>
        <p:txBody>
          <a:bodyPr/>
          <a:lstStyle/>
          <a:p>
            <a:endParaRPr lang="fr-FR"/>
          </a:p>
        </p:txBody>
      </p:sp>
      <p:sp>
        <p:nvSpPr>
          <p:cNvPr id="29" name="Espace réservé du numéro de diapositive 28"/>
          <p:cNvSpPr>
            <a:spLocks noGrp="1"/>
          </p:cNvSpPr>
          <p:nvPr>
            <p:ph type="sldNum" sz="quarter" idx="12"/>
          </p:nvPr>
        </p:nvSpPr>
        <p:spPr/>
        <p:txBody>
          <a:bodyPr lIns="0" tIns="0" rIns="0" bIns="0">
            <a:noAutofit/>
          </a:bodyPr>
          <a:lstStyle>
            <a:lvl1pPr>
              <a:defRPr sz="1400">
                <a:solidFill>
                  <a:srgbClr val="FFFFFF"/>
                </a:solidFill>
              </a:defRPr>
            </a:lvl1pPr>
          </a:lstStyle>
          <a:p>
            <a:fld id="{ED977604-8DBC-4687-B3BF-A0FAF9C1E3F5}" type="slidenum">
              <a:rPr lang="fr-FR" smtClean="0"/>
              <a:pPr/>
              <a:t>‹N°›</a:t>
            </a:fld>
            <a:endParaRPr lang="fr-FR"/>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r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D977604-8DBC-4687-B3BF-A0FAF9C1E3F5}" type="slidenum">
              <a:rPr lang="fr-FR" smtClean="0"/>
              <a:pPr/>
              <a:t>‹N°›</a:t>
            </a:fld>
            <a:endParaRPr lang="fr-FR"/>
          </a:p>
        </p:txBody>
      </p:sp>
      <p:sp>
        <p:nvSpPr>
          <p:cNvPr id="8" name="Espace réservé du contenu 7"/>
          <p:cNvSpPr>
            <a:spLocks noGrp="1"/>
          </p:cNvSpPr>
          <p:nvPr>
            <p:ph sz="quarter" idx="1"/>
          </p:nvPr>
        </p:nvSpPr>
        <p:spPr>
          <a:xfrm>
            <a:off x="914400" y="1447800"/>
            <a:ext cx="777240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ectangle à coins arrondis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5" name="Espace réservé du pied de page 4"/>
          <p:cNvSpPr>
            <a:spLocks noGrp="1"/>
          </p:cNvSpPr>
          <p:nvPr>
            <p:ph type="ftr" sz="quarter" idx="11"/>
          </p:nvPr>
        </p:nvSpPr>
        <p:spPr>
          <a:xfrm>
            <a:off x="800100" y="6172200"/>
            <a:ext cx="4000500" cy="457200"/>
          </a:xfrm>
        </p:spPr>
        <p:txBody>
          <a:bodyPr/>
          <a:lstStyle/>
          <a:p>
            <a:endParaRPr lang="fr-F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146304" y="6208776"/>
            <a:ext cx="457200" cy="457200"/>
          </a:xfrm>
        </p:spPr>
        <p:txBody>
          <a:bodyPr/>
          <a:lstStyle/>
          <a:p>
            <a:fld id="{ED977604-8DBC-4687-B3BF-A0FAF9C1E3F5}" type="slidenum">
              <a:rPr lang="fr-FR" smtClean="0"/>
              <a:pPr/>
              <a:t>‹N°›</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D977604-8DBC-4687-B3BF-A0FAF9C1E3F5}" type="slidenum">
              <a:rPr lang="fr-FR" smtClean="0"/>
              <a:pPr/>
              <a:t>‹N°›</a:t>
            </a:fld>
            <a:endParaRPr lang="fr-FR"/>
          </a:p>
        </p:txBody>
      </p:sp>
      <p:sp>
        <p:nvSpPr>
          <p:cNvPr id="9" name="Espace réservé du contenu 8"/>
          <p:cNvSpPr>
            <a:spLocks noGrp="1"/>
          </p:cNvSpPr>
          <p:nvPr>
            <p:ph sz="quarter" idx="1"/>
          </p:nvPr>
        </p:nvSpPr>
        <p:spPr>
          <a:xfrm>
            <a:off x="914400" y="1447800"/>
            <a:ext cx="374904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1" name="Espace réservé du contenu 10"/>
          <p:cNvSpPr>
            <a:spLocks noGrp="1"/>
          </p:cNvSpPr>
          <p:nvPr>
            <p:ph sz="quarter" idx="2"/>
          </p:nvPr>
        </p:nvSpPr>
        <p:spPr>
          <a:xfrm>
            <a:off x="4933950" y="1447800"/>
            <a:ext cx="374904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914400" y="273050"/>
            <a:ext cx="7772400" cy="1143000"/>
          </a:xfrm>
        </p:spPr>
        <p:txBody>
          <a:bodyPr anchor="b" anchorCtr="0"/>
          <a:lstStyle>
            <a:lvl1pPr>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ED977604-8DBC-4687-B3BF-A0FAF9C1E3F5}" type="slidenum">
              <a:rPr lang="fr-FR" smtClean="0"/>
              <a:pPr/>
              <a:t>‹N°›</a:t>
            </a:fld>
            <a:endParaRPr lang="fr-FR"/>
          </a:p>
        </p:txBody>
      </p:sp>
      <p:sp>
        <p:nvSpPr>
          <p:cNvPr id="11" name="Espace réservé du contenu 10"/>
          <p:cNvSpPr>
            <a:spLocks noGrp="1"/>
          </p:cNvSpPr>
          <p:nvPr>
            <p:ph sz="half" idx="2"/>
          </p:nvPr>
        </p:nvSpPr>
        <p:spPr>
          <a:xfrm>
            <a:off x="914400" y="2247900"/>
            <a:ext cx="3733800" cy="38862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3" name="Espace réservé du contenu 12"/>
          <p:cNvSpPr>
            <a:spLocks noGrp="1"/>
          </p:cNvSpPr>
          <p:nvPr>
            <p:ph sz="half" idx="4"/>
          </p:nvPr>
        </p:nvSpPr>
        <p:spPr>
          <a:xfrm>
            <a:off x="4953000" y="2247900"/>
            <a:ext cx="3733800" cy="38862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ED977604-8DBC-4687-B3BF-A0FAF9C1E3F5}"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ED977604-8DBC-4687-B3BF-A0FAF9C1E3F5}"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ectangle à coins arrondis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914400" y="273050"/>
            <a:ext cx="7772400" cy="1143000"/>
          </a:xfrm>
        </p:spPr>
        <p:txBody>
          <a:bodyPr anchor="b" anchorCtr="0"/>
          <a:lstStyle>
            <a:lvl1pPr algn="l">
              <a:buNone/>
              <a:defRPr sz="4000" b="0"/>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D977604-8DBC-4687-B3BF-A0FAF9C1E3F5}" type="slidenum">
              <a:rPr lang="fr-FR" smtClean="0"/>
              <a:pPr/>
              <a:t>‹N°›</a:t>
            </a:fld>
            <a:endParaRPr lang="fr-FR"/>
          </a:p>
        </p:txBody>
      </p:sp>
      <p:sp>
        <p:nvSpPr>
          <p:cNvPr id="11" name="Espace réservé du contenu 10"/>
          <p:cNvSpPr>
            <a:spLocks noGrp="1"/>
          </p:cNvSpPr>
          <p:nvPr>
            <p:ph sz="quarter" idx="1"/>
          </p:nvPr>
        </p:nvSpPr>
        <p:spPr>
          <a:xfrm>
            <a:off x="2971800" y="1600200"/>
            <a:ext cx="5715000" cy="44958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fr-FR" smtClean="0"/>
              <a:t>Cliquez pour modifier le style du titre</a:t>
            </a:r>
            <a:endParaRPr kumimoji="0" lang="en-US"/>
          </a:p>
        </p:txBody>
      </p:sp>
      <p:sp>
        <p:nvSpPr>
          <p:cNvPr id="4" name="Espace réservé du texte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6" name="Espace réservé du pied de page 5"/>
          <p:cNvSpPr>
            <a:spLocks noGrp="1"/>
          </p:cNvSpPr>
          <p:nvPr>
            <p:ph type="ftr" sz="quarter" idx="11"/>
          </p:nvPr>
        </p:nvSpPr>
        <p:spPr>
          <a:xfrm>
            <a:off x="914400" y="6172200"/>
            <a:ext cx="3886200" cy="457200"/>
          </a:xfrm>
        </p:spPr>
        <p:txBody>
          <a:bodyPr/>
          <a:lstStyle/>
          <a:p>
            <a:endParaRPr lang="fr-FR"/>
          </a:p>
        </p:txBody>
      </p:sp>
      <p:sp>
        <p:nvSpPr>
          <p:cNvPr id="7" name="Espace réservé du numéro de diapositive 6"/>
          <p:cNvSpPr>
            <a:spLocks noGrp="1"/>
          </p:cNvSpPr>
          <p:nvPr>
            <p:ph type="sldNum" sz="quarter" idx="12"/>
          </p:nvPr>
        </p:nvSpPr>
        <p:spPr>
          <a:xfrm>
            <a:off x="146304" y="6208776"/>
            <a:ext cx="457200" cy="457200"/>
          </a:xfrm>
        </p:spPr>
        <p:txBody>
          <a:bodyPr/>
          <a:lstStyle/>
          <a:p>
            <a:fld id="{ED977604-8DBC-4687-B3BF-A0FAF9C1E3F5}" type="slidenum">
              <a:rPr lang="fr-FR" smtClean="0"/>
              <a:pPr/>
              <a:t>‹N°›</a:t>
            </a:fld>
            <a:endParaRPr lang="fr-FR"/>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Espace réservé pour une image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fr-FR" smtClean="0"/>
              <a:t>Cliquez sur l'icône pour ajouter une image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D977604-8DBC-4687-B3BF-A0FAF9C1E3F5}"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41"/>
            <a:ext cx="2011680" cy="5851525"/>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914400" y="274640"/>
            <a:ext cx="5562600" cy="5851525"/>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D977604-8DBC-4687-B3BF-A0FAF9C1E3F5}"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ectangle à coins arrondis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Espace réservé du titre 21"/>
          <p:cNvSpPr>
            <a:spLocks noGrp="1"/>
          </p:cNvSpPr>
          <p:nvPr>
            <p:ph type="title"/>
          </p:nvPr>
        </p:nvSpPr>
        <p:spPr>
          <a:xfrm>
            <a:off x="914400" y="274638"/>
            <a:ext cx="7772400" cy="1143000"/>
          </a:xfrm>
          <a:prstGeom prst="rect">
            <a:avLst/>
          </a:prstGeom>
        </p:spPr>
        <p:txBody>
          <a:bodyPr bIns="91440" anchor="b" anchorCtr="0">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4" name="Espace réservé de la date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F69ECEAB-D2A0-49C0-B885-67E26AFAC993}" type="datetimeFigureOut">
              <a:rPr lang="fr-FR" smtClean="0"/>
              <a:pPr/>
              <a:t>11/05/2020</a:t>
            </a:fld>
            <a:endParaRPr lang="fr-FR"/>
          </a:p>
        </p:txBody>
      </p:sp>
      <p:sp>
        <p:nvSpPr>
          <p:cNvPr id="3" name="Espace réservé du pied de page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fr-FR"/>
          </a:p>
        </p:txBody>
      </p:sp>
      <p:sp>
        <p:nvSpPr>
          <p:cNvPr id="23" name="Espace réservé du numéro de diapositive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ED977604-8DBC-4687-B3BF-A0FAF9C1E3F5}"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p:txBody>
          <a:bodyPr/>
          <a:lstStyle/>
          <a:p>
            <a:endParaRPr lang="fr-FR"/>
          </a:p>
        </p:txBody>
      </p:sp>
      <p:sp>
        <p:nvSpPr>
          <p:cNvPr id="2" name="Titre 1"/>
          <p:cNvSpPr>
            <a:spLocks noGrp="1"/>
          </p:cNvSpPr>
          <p:nvPr>
            <p:ph type="ctrTitle"/>
          </p:nvPr>
        </p:nvSpPr>
        <p:spPr/>
        <p:txBody>
          <a:bodyPr/>
          <a:lstStyle/>
          <a:p>
            <a:r>
              <a:rPr lang="fr-FR" dirty="0" smtClean="0"/>
              <a:t>SQL LMD</a:t>
            </a:r>
            <a:endParaRPr lang="fr-F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DISTINCT</a:t>
            </a:r>
            <a:endParaRPr lang="fr-FR" b="1" dirty="0"/>
          </a:p>
        </p:txBody>
      </p:sp>
      <p:sp>
        <p:nvSpPr>
          <p:cNvPr id="3" name="Espace réservé du contenu 2"/>
          <p:cNvSpPr>
            <a:spLocks noGrp="1"/>
          </p:cNvSpPr>
          <p:nvPr>
            <p:ph sz="quarter" idx="1"/>
          </p:nvPr>
        </p:nvSpPr>
        <p:spPr>
          <a:xfrm>
            <a:off x="714348" y="1571612"/>
            <a:ext cx="7772400" cy="1214446"/>
          </a:xfrm>
        </p:spPr>
        <p:txBody>
          <a:bodyPr>
            <a:normAutofit lnSpcReduction="10000"/>
          </a:bodyPr>
          <a:lstStyle/>
          <a:p>
            <a:pPr algn="just">
              <a:buNone/>
            </a:pPr>
            <a:r>
              <a:rPr lang="fr-FR" dirty="0" smtClean="0"/>
              <a:t>	Le DISTINCT permet d’éviter les redondances dans les résultats du SELECT. L’utilisation basique de cette commande consiste alors à effectuer la requête suivante :</a:t>
            </a:r>
          </a:p>
          <a:p>
            <a:pPr>
              <a:buNone/>
            </a:pPr>
            <a:endParaRPr lang="fr-FR" dirty="0" smtClean="0"/>
          </a:p>
          <a:p>
            <a:pPr>
              <a:buNone/>
            </a:pPr>
            <a:endParaRPr lang="fr-FR" dirty="0" smtClean="0"/>
          </a:p>
          <a:p>
            <a:pPr>
              <a:buNone/>
            </a:pPr>
            <a:endParaRPr lang="fr-FR" dirty="0"/>
          </a:p>
        </p:txBody>
      </p:sp>
      <p:pic>
        <p:nvPicPr>
          <p:cNvPr id="1026" name="Picture 2"/>
          <p:cNvPicPr>
            <a:picLocks noChangeAspect="1" noChangeArrowheads="1"/>
          </p:cNvPicPr>
          <p:nvPr/>
        </p:nvPicPr>
        <p:blipFill>
          <a:blip r:embed="rId2"/>
          <a:srcRect/>
          <a:stretch>
            <a:fillRect/>
          </a:stretch>
        </p:blipFill>
        <p:spPr bwMode="auto">
          <a:xfrm>
            <a:off x="1357290" y="2857496"/>
            <a:ext cx="5448300" cy="485775"/>
          </a:xfrm>
          <a:prstGeom prst="rect">
            <a:avLst/>
          </a:prstGeom>
          <a:noFill/>
          <a:ln w="9525">
            <a:noFill/>
            <a:miter lim="800000"/>
            <a:headEnd/>
            <a:tailEnd/>
          </a:ln>
          <a:effectLst/>
        </p:spPr>
      </p:pic>
      <p:pic>
        <p:nvPicPr>
          <p:cNvPr id="5" name="Picture 2"/>
          <p:cNvPicPr>
            <a:picLocks noChangeAspect="1" noChangeArrowheads="1"/>
          </p:cNvPicPr>
          <p:nvPr/>
        </p:nvPicPr>
        <p:blipFill>
          <a:blip r:embed="rId3" cstate="print"/>
          <a:srcRect/>
          <a:stretch>
            <a:fillRect/>
          </a:stretch>
        </p:blipFill>
        <p:spPr bwMode="auto">
          <a:xfrm>
            <a:off x="1285852" y="3714752"/>
            <a:ext cx="6167436" cy="295185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AS (alias)</a:t>
            </a:r>
            <a:endParaRPr lang="fr-FR" dirty="0"/>
          </a:p>
        </p:txBody>
      </p:sp>
      <p:sp>
        <p:nvSpPr>
          <p:cNvPr id="3" name="Espace réservé du contenu 2"/>
          <p:cNvSpPr>
            <a:spLocks noGrp="1"/>
          </p:cNvSpPr>
          <p:nvPr>
            <p:ph sz="quarter" idx="1"/>
          </p:nvPr>
        </p:nvSpPr>
        <p:spPr/>
        <p:txBody>
          <a:bodyPr/>
          <a:lstStyle/>
          <a:p>
            <a:r>
              <a:rPr lang="fr-FR" dirty="0" smtClean="0"/>
              <a:t>Dans le langage SQL il est possible d’utiliser des alias pour renommer temporairement une colonne ou une table dans une requête. Cette astuce est particulièrement utile pour faciliter la lecture des requêtes.</a:t>
            </a:r>
          </a:p>
          <a:p>
            <a:pPr>
              <a:buNone/>
            </a:pPr>
            <a:r>
              <a:rPr lang="fr-FR" dirty="0" smtClean="0"/>
              <a:t>	</a:t>
            </a:r>
          </a:p>
          <a:p>
            <a:pPr>
              <a:buNone/>
            </a:pPr>
            <a:endParaRPr lang="fr-FR" dirty="0"/>
          </a:p>
        </p:txBody>
      </p:sp>
      <p:pic>
        <p:nvPicPr>
          <p:cNvPr id="2051" name="Picture 3"/>
          <p:cNvPicPr>
            <a:picLocks noChangeAspect="1" noChangeArrowheads="1"/>
          </p:cNvPicPr>
          <p:nvPr/>
        </p:nvPicPr>
        <p:blipFill>
          <a:blip r:embed="rId2"/>
          <a:srcRect/>
          <a:stretch>
            <a:fillRect/>
          </a:stretch>
        </p:blipFill>
        <p:spPr bwMode="auto">
          <a:xfrm>
            <a:off x="1357290" y="3714752"/>
            <a:ext cx="5438775" cy="485775"/>
          </a:xfrm>
          <a:prstGeom prst="rect">
            <a:avLst/>
          </a:prstGeom>
          <a:noFill/>
          <a:ln w="9525">
            <a:noFill/>
            <a:miter lim="800000"/>
            <a:headEnd/>
            <a:tailEnd/>
          </a:ln>
          <a:effectLst/>
        </p:spPr>
      </p:pic>
      <p:sp>
        <p:nvSpPr>
          <p:cNvPr id="6" name="ZoneTexte 5"/>
          <p:cNvSpPr txBox="1"/>
          <p:nvPr/>
        </p:nvSpPr>
        <p:spPr>
          <a:xfrm>
            <a:off x="1428728" y="4714884"/>
            <a:ext cx="4411016" cy="369332"/>
          </a:xfrm>
          <a:prstGeom prst="rect">
            <a:avLst/>
          </a:prstGeom>
          <a:noFill/>
        </p:spPr>
        <p:txBody>
          <a:bodyPr wrap="none" rtlCol="0">
            <a:spAutoFit/>
          </a:bodyPr>
          <a:lstStyle/>
          <a:p>
            <a:r>
              <a:rPr lang="fr-FR" dirty="0" smtClean="0"/>
              <a:t>Exemple: SELECT </a:t>
            </a:r>
            <a:r>
              <a:rPr lang="fr-FR" dirty="0" err="1" smtClean="0"/>
              <a:t>nom_prof</a:t>
            </a:r>
            <a:r>
              <a:rPr lang="fr-FR" dirty="0" smtClean="0"/>
              <a:t> </a:t>
            </a:r>
            <a:r>
              <a:rPr lang="fr-FR" b="1" dirty="0" smtClean="0"/>
              <a:t>as</a:t>
            </a:r>
            <a:r>
              <a:rPr lang="fr-FR" dirty="0" smtClean="0"/>
              <a:t> nom FROM prof;</a:t>
            </a:r>
            <a:endParaRPr lang="fr-F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WHERE</a:t>
            </a:r>
            <a:endParaRPr lang="fr-FR" dirty="0"/>
          </a:p>
        </p:txBody>
      </p:sp>
      <p:sp>
        <p:nvSpPr>
          <p:cNvPr id="3" name="Espace réservé du contenu 2"/>
          <p:cNvSpPr>
            <a:spLocks noGrp="1"/>
          </p:cNvSpPr>
          <p:nvPr>
            <p:ph sz="quarter" idx="1"/>
          </p:nvPr>
        </p:nvSpPr>
        <p:spPr/>
        <p:txBody>
          <a:bodyPr/>
          <a:lstStyle/>
          <a:p>
            <a:pPr>
              <a:buNone/>
            </a:pPr>
            <a:r>
              <a:rPr lang="fr-FR" dirty="0" smtClean="0"/>
              <a:t>	La commande WHERE dans une requête SQL permet d’extraire les lignes d’une base de données qui respectent une condition. Cela permet d’obtenir uniquement les informations désirées.</a:t>
            </a:r>
          </a:p>
          <a:p>
            <a:pPr>
              <a:buNone/>
            </a:pPr>
            <a:r>
              <a:rPr lang="fr-FR" dirty="0" smtClean="0"/>
              <a:t>	 La commande WHERE s’utilise en complément à une requête utilisant SELECT. La façon la plus simple de l’utiliser est la suivante :</a:t>
            </a:r>
          </a:p>
          <a:p>
            <a:pPr>
              <a:buNone/>
            </a:pPr>
            <a:endParaRPr lang="fr-FR" dirty="0" smtClean="0"/>
          </a:p>
        </p:txBody>
      </p:sp>
      <p:pic>
        <p:nvPicPr>
          <p:cNvPr id="3074" name="Picture 2"/>
          <p:cNvPicPr>
            <a:picLocks noChangeAspect="1" noChangeArrowheads="1"/>
          </p:cNvPicPr>
          <p:nvPr/>
        </p:nvPicPr>
        <p:blipFill>
          <a:blip r:embed="rId2"/>
          <a:srcRect/>
          <a:stretch>
            <a:fillRect/>
          </a:stretch>
        </p:blipFill>
        <p:spPr bwMode="auto">
          <a:xfrm>
            <a:off x="1428728" y="4643446"/>
            <a:ext cx="5448300" cy="676275"/>
          </a:xfrm>
          <a:prstGeom prst="rect">
            <a:avLst/>
          </a:prstGeom>
          <a:noFill/>
          <a:ln w="9525">
            <a:noFill/>
            <a:miter lim="800000"/>
            <a:headEnd/>
            <a:tailEnd/>
          </a:ln>
          <a:effectLst/>
        </p:spPr>
      </p:pic>
      <p:sp>
        <p:nvSpPr>
          <p:cNvPr id="5" name="ZoneTexte 4"/>
          <p:cNvSpPr txBox="1"/>
          <p:nvPr/>
        </p:nvSpPr>
        <p:spPr>
          <a:xfrm>
            <a:off x="1285852" y="5786454"/>
            <a:ext cx="5451685" cy="369332"/>
          </a:xfrm>
          <a:prstGeom prst="rect">
            <a:avLst/>
          </a:prstGeom>
          <a:noFill/>
        </p:spPr>
        <p:txBody>
          <a:bodyPr wrap="none" rtlCol="0">
            <a:spAutoFit/>
          </a:bodyPr>
          <a:lstStyle/>
          <a:p>
            <a:r>
              <a:rPr lang="fr-FR" dirty="0" err="1" smtClean="0"/>
              <a:t>Exemple:SELECT</a:t>
            </a:r>
            <a:r>
              <a:rPr lang="fr-FR" dirty="0" smtClean="0"/>
              <a:t> * </a:t>
            </a:r>
            <a:r>
              <a:rPr lang="fr-FR" dirty="0" err="1" smtClean="0"/>
              <a:t>from</a:t>
            </a:r>
            <a:r>
              <a:rPr lang="fr-FR" dirty="0" smtClean="0"/>
              <a:t> prof </a:t>
            </a:r>
            <a:r>
              <a:rPr lang="fr-FR" dirty="0" err="1" smtClean="0"/>
              <a:t>where</a:t>
            </a:r>
            <a:r>
              <a:rPr lang="fr-FR" dirty="0" smtClean="0"/>
              <a:t> </a:t>
            </a:r>
            <a:r>
              <a:rPr lang="fr-FR" dirty="0" err="1" smtClean="0"/>
              <a:t>nom_prof</a:t>
            </a:r>
            <a:r>
              <a:rPr lang="fr-FR" dirty="0" smtClean="0"/>
              <a:t>= ‘RAKOTO ‘;</a:t>
            </a:r>
            <a:endParaRPr lang="fr-F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Opérateurs de comparaisons</a:t>
            </a:r>
            <a:endParaRPr lang="fr-FR" dirty="0"/>
          </a:p>
        </p:txBody>
      </p:sp>
      <p:pic>
        <p:nvPicPr>
          <p:cNvPr id="4098" name="Picture 2"/>
          <p:cNvPicPr>
            <a:picLocks noChangeAspect="1" noChangeArrowheads="1"/>
          </p:cNvPicPr>
          <p:nvPr/>
        </p:nvPicPr>
        <p:blipFill>
          <a:blip r:embed="rId2"/>
          <a:srcRect/>
          <a:stretch>
            <a:fillRect/>
          </a:stretch>
        </p:blipFill>
        <p:spPr bwMode="auto">
          <a:xfrm>
            <a:off x="1000100" y="1928802"/>
            <a:ext cx="6896100" cy="3429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Exemple sur les opérateurs de comparaison</a:t>
            </a:r>
            <a:endParaRPr lang="fr-FR" dirty="0"/>
          </a:p>
        </p:txBody>
      </p:sp>
      <p:pic>
        <p:nvPicPr>
          <p:cNvPr id="6146" name="Picture 2"/>
          <p:cNvPicPr>
            <a:picLocks noChangeAspect="1" noChangeArrowheads="1"/>
          </p:cNvPicPr>
          <p:nvPr/>
        </p:nvPicPr>
        <p:blipFill>
          <a:blip r:embed="rId2"/>
          <a:srcRect/>
          <a:stretch>
            <a:fillRect/>
          </a:stretch>
        </p:blipFill>
        <p:spPr bwMode="auto">
          <a:xfrm>
            <a:off x="357158" y="1595456"/>
            <a:ext cx="8439150" cy="44767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AND &amp; OR</a:t>
            </a:r>
            <a:endParaRPr lang="fr-FR" dirty="0"/>
          </a:p>
        </p:txBody>
      </p:sp>
      <p:sp>
        <p:nvSpPr>
          <p:cNvPr id="3" name="Espace réservé du contenu 2"/>
          <p:cNvSpPr>
            <a:spLocks noGrp="1"/>
          </p:cNvSpPr>
          <p:nvPr>
            <p:ph sz="quarter" idx="1"/>
          </p:nvPr>
        </p:nvSpPr>
        <p:spPr/>
        <p:txBody>
          <a:bodyPr/>
          <a:lstStyle/>
          <a:p>
            <a:pPr>
              <a:buNone/>
            </a:pPr>
            <a:r>
              <a:rPr lang="fr-FR" dirty="0" smtClean="0"/>
              <a:t>	Une requête SQL peut être restreinte à l’aide de la condition WHERE. Les opérateurs logiques AND et OR peuvent être utilisées au sein de la commande WHERE pour combiner des conditions.</a:t>
            </a:r>
          </a:p>
          <a:p>
            <a:pPr>
              <a:buNone/>
            </a:pPr>
            <a:r>
              <a:rPr lang="fr-FR" dirty="0" smtClean="0"/>
              <a:t>	 L’opérateur AND permet de s’assurer que la condition1 ET la condition2 sont vrai :</a:t>
            </a:r>
            <a:endParaRPr lang="fr-FR" dirty="0"/>
          </a:p>
        </p:txBody>
      </p:sp>
      <p:pic>
        <p:nvPicPr>
          <p:cNvPr id="5122" name="Picture 2"/>
          <p:cNvPicPr>
            <a:picLocks noChangeAspect="1" noChangeArrowheads="1"/>
          </p:cNvPicPr>
          <p:nvPr/>
        </p:nvPicPr>
        <p:blipFill>
          <a:blip r:embed="rId2"/>
          <a:srcRect/>
          <a:stretch>
            <a:fillRect/>
          </a:stretch>
        </p:blipFill>
        <p:spPr bwMode="auto">
          <a:xfrm>
            <a:off x="1214414" y="4286256"/>
            <a:ext cx="5448300" cy="695325"/>
          </a:xfrm>
          <a:prstGeom prst="rect">
            <a:avLst/>
          </a:prstGeom>
          <a:noFill/>
          <a:ln w="9525">
            <a:noFill/>
            <a:miter lim="800000"/>
            <a:headEnd/>
            <a:tailEnd/>
          </a:ln>
          <a:effectLst/>
        </p:spPr>
      </p:pic>
      <p:sp>
        <p:nvSpPr>
          <p:cNvPr id="5" name="ZoneTexte 4"/>
          <p:cNvSpPr txBox="1"/>
          <p:nvPr/>
        </p:nvSpPr>
        <p:spPr>
          <a:xfrm>
            <a:off x="1285852" y="5357826"/>
            <a:ext cx="7344383" cy="369332"/>
          </a:xfrm>
          <a:prstGeom prst="rect">
            <a:avLst/>
          </a:prstGeom>
          <a:noFill/>
        </p:spPr>
        <p:txBody>
          <a:bodyPr wrap="none" rtlCol="0">
            <a:spAutoFit/>
          </a:bodyPr>
          <a:lstStyle/>
          <a:p>
            <a:r>
              <a:rPr lang="fr-FR" dirty="0" smtClean="0"/>
              <a:t>SELECT * FROM prof  WHERE </a:t>
            </a:r>
            <a:r>
              <a:rPr lang="fr-FR" dirty="0" err="1" smtClean="0"/>
              <a:t>nom_prof</a:t>
            </a:r>
            <a:r>
              <a:rPr lang="fr-FR" dirty="0" smtClean="0"/>
              <a:t>= ' RAKOTO ‘ and </a:t>
            </a:r>
            <a:r>
              <a:rPr lang="fr-FR" dirty="0" err="1" smtClean="0"/>
              <a:t>prenom_prof</a:t>
            </a:r>
            <a:r>
              <a:rPr lang="fr-FR" dirty="0" smtClean="0"/>
              <a:t>= ' Vao ‘; </a:t>
            </a:r>
            <a:endParaRPr lang="fr-FR"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Exercice 4</a:t>
            </a:r>
            <a:endParaRPr lang="fr-FR" dirty="0"/>
          </a:p>
        </p:txBody>
      </p:sp>
      <p:sp>
        <p:nvSpPr>
          <p:cNvPr id="3" name="Espace réservé du contenu 2"/>
          <p:cNvSpPr>
            <a:spLocks noGrp="1"/>
          </p:cNvSpPr>
          <p:nvPr>
            <p:ph sz="quarter" idx="1"/>
          </p:nvPr>
        </p:nvSpPr>
        <p:spPr/>
        <p:txBody>
          <a:bodyPr/>
          <a:lstStyle/>
          <a:p>
            <a:r>
              <a:rPr lang="fr-FR" dirty="0" smtClean="0"/>
              <a:t>Afficher toutes les commandes passées par le client 1;</a:t>
            </a:r>
          </a:p>
          <a:p>
            <a:r>
              <a:rPr lang="fr-FR" dirty="0" smtClean="0"/>
              <a:t>Afficher la variation </a:t>
            </a:r>
            <a:r>
              <a:rPr lang="fr-FR" smtClean="0"/>
              <a:t>de </a:t>
            </a:r>
            <a:r>
              <a:rPr lang="fr-FR" smtClean="0"/>
              <a:t>nom </a:t>
            </a:r>
            <a:r>
              <a:rPr lang="fr-FR" dirty="0" smtClean="0"/>
              <a:t>dans la table client </a:t>
            </a:r>
          </a:p>
          <a:p>
            <a:r>
              <a:rPr lang="fr-FR" dirty="0" smtClean="0"/>
              <a:t>Afficher toutes les commandes passées en mois d’Avril</a:t>
            </a:r>
          </a:p>
          <a:p>
            <a:r>
              <a:rPr lang="fr-FR" dirty="0" smtClean="0"/>
              <a:t>Afficher le contenu de la commande id=2;</a:t>
            </a:r>
          </a:p>
          <a:p>
            <a:pPr>
              <a:buNone/>
            </a:pPr>
            <a:endParaRPr lang="fr-F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apitaux">
  <a:themeElements>
    <a:clrScheme name="Capitaux">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pitaux">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apitaux">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106</TotalTime>
  <Words>126</Words>
  <Application>Microsoft Office PowerPoint</Application>
  <PresentationFormat>Affichage à l'écran (4:3)</PresentationFormat>
  <Paragraphs>23</Paragraphs>
  <Slides>8</Slides>
  <Notes>0</Notes>
  <HiddenSlides>0</HiddenSlides>
  <MMClips>0</MMClips>
  <ScaleCrop>false</ScaleCrop>
  <HeadingPairs>
    <vt:vector size="4" baseType="variant">
      <vt:variant>
        <vt:lpstr>Thème</vt:lpstr>
      </vt:variant>
      <vt:variant>
        <vt:i4>1</vt:i4>
      </vt:variant>
      <vt:variant>
        <vt:lpstr>Titres des diapositives</vt:lpstr>
      </vt:variant>
      <vt:variant>
        <vt:i4>8</vt:i4>
      </vt:variant>
    </vt:vector>
  </HeadingPairs>
  <TitlesOfParts>
    <vt:vector size="9" baseType="lpstr">
      <vt:lpstr>Capitaux</vt:lpstr>
      <vt:lpstr>SQL LMD</vt:lpstr>
      <vt:lpstr>DISTINCT</vt:lpstr>
      <vt:lpstr>AS (alias)</vt:lpstr>
      <vt:lpstr>WHERE</vt:lpstr>
      <vt:lpstr>Opérateurs de comparaisons</vt:lpstr>
      <vt:lpstr>Exemple sur les opérateurs de comparaison</vt:lpstr>
      <vt:lpstr>AND &amp; OR</vt:lpstr>
      <vt:lpstr>Exercice 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LMD</dc:title>
  <dc:creator>EMIT</dc:creator>
  <cp:lastModifiedBy>EMIT</cp:lastModifiedBy>
  <cp:revision>34</cp:revision>
  <dcterms:created xsi:type="dcterms:W3CDTF">2020-05-11T12:51:34Z</dcterms:created>
  <dcterms:modified xsi:type="dcterms:W3CDTF">2020-05-11T14:46:48Z</dcterms:modified>
</cp:coreProperties>
</file>