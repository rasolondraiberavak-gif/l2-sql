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57" r:id="rId3"/>
    <p:sldId id="310" r:id="rId4"/>
    <p:sldId id="258" r:id="rId5"/>
    <p:sldId id="259" r:id="rId6"/>
    <p:sldId id="260" r:id="rId7"/>
    <p:sldId id="261" r:id="rId8"/>
    <p:sldId id="262" r:id="rId9"/>
    <p:sldId id="312" r:id="rId10"/>
    <p:sldId id="263" r:id="rId11"/>
    <p:sldId id="265" r:id="rId12"/>
    <p:sldId id="266" r:id="rId13"/>
    <p:sldId id="276" r:id="rId14"/>
    <p:sldId id="277" r:id="rId15"/>
    <p:sldId id="278" r:id="rId16"/>
    <p:sldId id="279" r:id="rId17"/>
    <p:sldId id="280" r:id="rId18"/>
    <p:sldId id="281" r:id="rId19"/>
    <p:sldId id="282" r:id="rId20"/>
    <p:sldId id="283" r:id="rId21"/>
    <p:sldId id="284" r:id="rId22"/>
    <p:sldId id="285" r:id="rId23"/>
    <p:sldId id="286" r:id="rId24"/>
    <p:sldId id="313" r:id="rId25"/>
  </p:sldIdLst>
  <p:sldSz cx="9144000" cy="6858000" type="screen4x3"/>
  <p:notesSz cx="7099300" cy="102346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632" autoAdjust="0"/>
    <p:restoredTop sz="94660"/>
  </p:normalViewPr>
  <p:slideViewPr>
    <p:cSldViewPr>
      <p:cViewPr>
        <p:scale>
          <a:sx n="70" d="100"/>
          <a:sy n="70" d="100"/>
        </p:scale>
        <p:origin x="-1422" y="-5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76575" cy="5111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021138" y="0"/>
            <a:ext cx="3076575" cy="511175"/>
          </a:xfrm>
          <a:prstGeom prst="rect">
            <a:avLst/>
          </a:prstGeom>
        </p:spPr>
        <p:txBody>
          <a:bodyPr vert="horz" lIns="91440" tIns="45720" rIns="91440" bIns="45720" rtlCol="0"/>
          <a:lstStyle>
            <a:lvl1pPr algn="r">
              <a:defRPr sz="1200"/>
            </a:lvl1pPr>
          </a:lstStyle>
          <a:p>
            <a:fld id="{0CEF171C-F34A-4CF9-A9AE-0CAA6F3B8114}" type="datetimeFigureOut">
              <a:rPr lang="fr-FR" smtClean="0"/>
              <a:pPr/>
              <a:t>11/05/2020</a:t>
            </a:fld>
            <a:endParaRPr lang="fr-FR"/>
          </a:p>
        </p:txBody>
      </p:sp>
      <p:sp>
        <p:nvSpPr>
          <p:cNvPr id="4" name="Espace réservé de l'image des diapositives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709613" y="4860925"/>
            <a:ext cx="5680075" cy="4605338"/>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9721850"/>
            <a:ext cx="3076575" cy="5111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021138" y="9721850"/>
            <a:ext cx="3076575" cy="511175"/>
          </a:xfrm>
          <a:prstGeom prst="rect">
            <a:avLst/>
          </a:prstGeom>
        </p:spPr>
        <p:txBody>
          <a:bodyPr vert="horz" lIns="91440" tIns="45720" rIns="91440" bIns="45720" rtlCol="0" anchor="b"/>
          <a:lstStyle>
            <a:lvl1pPr algn="r">
              <a:defRPr sz="1200"/>
            </a:lvl1pPr>
          </a:lstStyle>
          <a:p>
            <a:fld id="{6C62A419-F65C-4A06-A8BE-F839A2F3B911}"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6C62A419-F65C-4A06-A8BE-F839A2F3B911}" type="slidenum">
              <a:rPr lang="fr-FR" smtClean="0"/>
              <a:pPr/>
              <a:t>1</a:t>
            </a:fld>
            <a:endParaRPr lang="fr-F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10" name="Triangle rect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r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fr-FR" smtClean="0"/>
              <a:t>Cliquez pour modifier le style du titre</a:t>
            </a:r>
            <a:endParaRPr kumimoji="0" lang="en-US"/>
          </a:p>
        </p:txBody>
      </p:sp>
      <p:sp>
        <p:nvSpPr>
          <p:cNvPr id="17" name="Sous-titr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fr-FR" smtClean="0"/>
              <a:t>Cliquez pour modifier le style des sous-titres du masque</a:t>
            </a:r>
            <a:endParaRPr kumimoji="0" lang="en-US"/>
          </a:p>
        </p:txBody>
      </p:sp>
      <p:grpSp>
        <p:nvGrpSpPr>
          <p:cNvPr id="2" name="Groupe 1"/>
          <p:cNvGrpSpPr/>
          <p:nvPr/>
        </p:nvGrpSpPr>
        <p:grpSpPr>
          <a:xfrm>
            <a:off x="-3765" y="4953000"/>
            <a:ext cx="9147765" cy="1912088"/>
            <a:chOff x="-3765" y="4832896"/>
            <a:chExt cx="9147765" cy="2032192"/>
          </a:xfrm>
        </p:grpSpPr>
        <p:sp>
          <p:nvSpPr>
            <p:cNvPr id="7" name="Forme libre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orme libre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orme libre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Connecteur droit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Espace réservé de la date 29"/>
          <p:cNvSpPr>
            <a:spLocks noGrp="1"/>
          </p:cNvSpPr>
          <p:nvPr>
            <p:ph type="dt" sz="half" idx="10"/>
          </p:nvPr>
        </p:nvSpPr>
        <p:spPr/>
        <p:txBody>
          <a:bodyPr/>
          <a:lstStyle>
            <a:lvl1pPr>
              <a:defRPr>
                <a:solidFill>
                  <a:srgbClr val="FFFFFF"/>
                </a:solidFill>
              </a:defRPr>
            </a:lvl1pPr>
            <a:extLst/>
          </a:lstStyle>
          <a:p>
            <a:fld id="{EA3F1233-59E0-46E1-92FD-0CD0EE120203}" type="datetimeFigureOut">
              <a:rPr lang="fr-FR" smtClean="0"/>
              <a:pPr/>
              <a:t>11/05/2020</a:t>
            </a:fld>
            <a:endParaRPr lang="fr-FR"/>
          </a:p>
        </p:txBody>
      </p:sp>
      <p:sp>
        <p:nvSpPr>
          <p:cNvPr id="19" name="Espace réservé du pied de page 18"/>
          <p:cNvSpPr>
            <a:spLocks noGrp="1"/>
          </p:cNvSpPr>
          <p:nvPr>
            <p:ph type="ftr" sz="quarter" idx="11"/>
          </p:nvPr>
        </p:nvSpPr>
        <p:spPr/>
        <p:txBody>
          <a:bodyPr/>
          <a:lstStyle>
            <a:lvl1pPr>
              <a:defRPr>
                <a:solidFill>
                  <a:schemeClr val="accent1">
                    <a:tint val="20000"/>
                  </a:schemeClr>
                </a:solidFill>
              </a:defRPr>
            </a:lvl1pPr>
            <a:extLst/>
          </a:lstStyle>
          <a:p>
            <a:endParaRPr lang="fr-FR"/>
          </a:p>
        </p:txBody>
      </p:sp>
      <p:sp>
        <p:nvSpPr>
          <p:cNvPr id="27" name="Espace réservé du numéro de diapositive 26"/>
          <p:cNvSpPr>
            <a:spLocks noGrp="1"/>
          </p:cNvSpPr>
          <p:nvPr>
            <p:ph type="sldNum" sz="quarter" idx="12"/>
          </p:nvPr>
        </p:nvSpPr>
        <p:spPr/>
        <p:txBody>
          <a:bodyPr/>
          <a:lstStyle>
            <a:lvl1pPr>
              <a:defRPr>
                <a:solidFill>
                  <a:srgbClr val="FFFFFF"/>
                </a:solidFill>
              </a:defRPr>
            </a:lvl1pPr>
            <a:extLst/>
          </a:lstStyle>
          <a:p>
            <a:fld id="{CD12B615-4BCE-4109-BEFB-4F419326EA37}" type="slidenum">
              <a:rPr lang="fr-FR" smtClean="0"/>
              <a:pPr/>
              <a:t>‹N°›</a:t>
            </a:fld>
            <a:endParaRPr lang="fr-FR"/>
          </a:p>
        </p:txBody>
      </p:sp>
    </p:spTree>
  </p:cSld>
  <p:clrMapOvr>
    <a:masterClrMapping/>
  </p:clrMapOvr>
  <p:transition>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extLst/>
          </a:lstStyle>
          <a:p>
            <a:fld id="{EA3F1233-59E0-46E1-92FD-0CD0EE120203}" type="datetimeFigureOut">
              <a:rPr lang="fr-FR" smtClean="0"/>
              <a:pPr/>
              <a:t>11/05/2020</a:t>
            </a:fld>
            <a:endParaRPr lang="fr-FR"/>
          </a:p>
        </p:txBody>
      </p:sp>
      <p:sp>
        <p:nvSpPr>
          <p:cNvPr id="5" name="Espace réservé du pied de page 4"/>
          <p:cNvSpPr>
            <a:spLocks noGrp="1"/>
          </p:cNvSpPr>
          <p:nvPr>
            <p:ph type="ftr" sz="quarter" idx="11"/>
          </p:nvPr>
        </p:nvSpPr>
        <p:spPr/>
        <p:txBody>
          <a:bodyPr/>
          <a:lstStyle>
            <a:extLst/>
          </a:lstStyle>
          <a:p>
            <a:endParaRPr lang="fr-FR"/>
          </a:p>
        </p:txBody>
      </p:sp>
      <p:sp>
        <p:nvSpPr>
          <p:cNvPr id="6" name="Espace réservé du numéro de diapositive 5"/>
          <p:cNvSpPr>
            <a:spLocks noGrp="1"/>
          </p:cNvSpPr>
          <p:nvPr>
            <p:ph type="sldNum" sz="quarter" idx="12"/>
          </p:nvPr>
        </p:nvSpPr>
        <p:spPr/>
        <p:txBody>
          <a:bodyPr/>
          <a:lstStyle>
            <a:extLst/>
          </a:lstStyle>
          <a:p>
            <a:fld id="{CD12B615-4BCE-4109-BEFB-4F419326EA37}" type="slidenum">
              <a:rPr lang="fr-FR" smtClean="0"/>
              <a:pPr/>
              <a:t>‹N°›</a:t>
            </a:fld>
            <a:endParaRPr lang="fr-FR"/>
          </a:p>
        </p:txBody>
      </p:sp>
      <p:sp>
        <p:nvSpPr>
          <p:cNvPr id="7" name="Titre 6"/>
          <p:cNvSpPr>
            <a:spLocks noGrp="1"/>
          </p:cNvSpPr>
          <p:nvPr>
            <p:ph type="title"/>
          </p:nvPr>
        </p:nvSpPr>
        <p:spPr/>
        <p:txBody>
          <a:bodyPr rtlCol="0"/>
          <a:lstStyle>
            <a:extLst/>
          </a:lstStyle>
          <a:p>
            <a:r>
              <a:rPr kumimoji="0" lang="fr-FR" smtClean="0"/>
              <a:t>Cliquez pour modifier le style du titre</a:t>
            </a:r>
            <a:endParaRPr kumimoji="0" lang="en-US"/>
          </a:p>
        </p:txBody>
      </p:sp>
    </p:spTree>
  </p:cSld>
  <p:clrMapOvr>
    <a:masterClrMapping/>
  </p:clrMapOvr>
  <p:transition>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Ref idx="1002">
        <a:schemeClr val="bg1"/>
      </p:bgRef>
    </p:bg>
    <p:spTree>
      <p:nvGrpSpPr>
        <p:cNvPr id="1" name=""/>
        <p:cNvGrpSpPr/>
        <p:nvPr/>
      </p:nvGrpSpPr>
      <p:grpSpPr>
        <a:xfrm>
          <a:off x="0" y="0"/>
          <a:ext cx="0" cy="0"/>
          <a:chOff x="0" y="0"/>
          <a:chExt cx="0" cy="0"/>
        </a:xfrm>
      </p:grpSpPr>
      <p:sp>
        <p:nvSpPr>
          <p:cNvPr id="2" name="Titr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p:txBody>
          <a:bodyPr/>
          <a:lstStyle>
            <a:extLst/>
          </a:lstStyle>
          <a:p>
            <a:fld id="{EA3F1233-59E0-46E1-92FD-0CD0EE120203}" type="datetimeFigureOut">
              <a:rPr lang="fr-FR" smtClean="0"/>
              <a:pPr/>
              <a:t>11/05/2020</a:t>
            </a:fld>
            <a:endParaRPr lang="fr-FR"/>
          </a:p>
        </p:txBody>
      </p:sp>
      <p:sp>
        <p:nvSpPr>
          <p:cNvPr id="5" name="Espace réservé du pied de page 4"/>
          <p:cNvSpPr>
            <a:spLocks noGrp="1"/>
          </p:cNvSpPr>
          <p:nvPr>
            <p:ph type="ftr" sz="quarter" idx="11"/>
          </p:nvPr>
        </p:nvSpPr>
        <p:spPr/>
        <p:txBody>
          <a:bodyPr/>
          <a:lstStyle>
            <a:extLst/>
          </a:lstStyle>
          <a:p>
            <a:endParaRPr lang="fr-FR"/>
          </a:p>
        </p:txBody>
      </p:sp>
      <p:sp>
        <p:nvSpPr>
          <p:cNvPr id="6" name="Espace réservé du numéro de diapositive 5"/>
          <p:cNvSpPr>
            <a:spLocks noGrp="1"/>
          </p:cNvSpPr>
          <p:nvPr>
            <p:ph type="sldNum" sz="quarter" idx="12"/>
          </p:nvPr>
        </p:nvSpPr>
        <p:spPr/>
        <p:txBody>
          <a:bodyPr/>
          <a:lstStyle>
            <a:extLst/>
          </a:lstStyle>
          <a:p>
            <a:fld id="{CD12B615-4BCE-4109-BEFB-4F419326EA37}" type="slidenum">
              <a:rPr lang="fr-FR" smtClean="0"/>
              <a:pPr/>
              <a:t>‹N°›</a:t>
            </a:fld>
            <a:endParaRPr lang="fr-FR"/>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2">
        <a:schemeClr val="bg1"/>
      </p:bgRef>
    </p:bg>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u contenu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extLst/>
          </a:lstStyle>
          <a:p>
            <a:fld id="{EA3F1233-59E0-46E1-92FD-0CD0EE120203}" type="datetimeFigureOut">
              <a:rPr lang="fr-FR" smtClean="0"/>
              <a:pPr/>
              <a:t>11/05/2020</a:t>
            </a:fld>
            <a:endParaRPr lang="fr-FR"/>
          </a:p>
        </p:txBody>
      </p:sp>
      <p:sp>
        <p:nvSpPr>
          <p:cNvPr id="6" name="Espace réservé du pied de page 5"/>
          <p:cNvSpPr>
            <a:spLocks noGrp="1"/>
          </p:cNvSpPr>
          <p:nvPr>
            <p:ph type="ftr" sz="quarter" idx="11"/>
          </p:nvPr>
        </p:nvSpPr>
        <p:spPr/>
        <p:txBody>
          <a:bodyPr/>
          <a:lstStyle>
            <a:extLst/>
          </a:lstStyle>
          <a:p>
            <a:endParaRPr lang="fr-FR"/>
          </a:p>
        </p:txBody>
      </p:sp>
      <p:sp>
        <p:nvSpPr>
          <p:cNvPr id="7" name="Espace réservé du numéro de diapositive 6"/>
          <p:cNvSpPr>
            <a:spLocks noGrp="1"/>
          </p:cNvSpPr>
          <p:nvPr>
            <p:ph type="sldNum" sz="quarter" idx="12"/>
          </p:nvPr>
        </p:nvSpPr>
        <p:spPr/>
        <p:txBody>
          <a:bodyPr/>
          <a:lstStyle>
            <a:extLst/>
          </a:lstStyle>
          <a:p>
            <a:fld id="{CD12B615-4BCE-4109-BEFB-4F419326EA37}" type="slidenum">
              <a:rPr lang="fr-FR" smtClean="0"/>
              <a:pPr/>
              <a:t>‹N°›</a:t>
            </a:fld>
            <a:endParaRPr lang="fr-FR"/>
          </a:p>
        </p:txBody>
      </p:sp>
      <p:sp>
        <p:nvSpPr>
          <p:cNvPr id="8" name="Titre 7"/>
          <p:cNvSpPr>
            <a:spLocks noGrp="1"/>
          </p:cNvSpPr>
          <p:nvPr>
            <p:ph type="title"/>
          </p:nvPr>
        </p:nvSpPr>
        <p:spPr/>
        <p:txBody>
          <a:bodyPr rtlCol="0"/>
          <a:lstStyle>
            <a:extLst/>
          </a:lstStyle>
          <a:p>
            <a:r>
              <a:rPr kumimoji="0" lang="fr-FR" smtClean="0"/>
              <a:t>Cliquez pour modifier le style du titre</a:t>
            </a:r>
            <a:endParaRPr kumimoji="0" lang="en-US"/>
          </a:p>
        </p:txBody>
      </p:sp>
    </p:spTree>
  </p:cSld>
  <p:clrMapOvr>
    <a:overrideClrMapping bg1="dk1" tx1="lt1" bg2="dk2" tx2="lt2" accent1="accent1" accent2="accent2" accent3="accent3" accent4="accent4" accent5="accent5" accent6="accent6" hlink="hlink" folHlink="folHlink"/>
  </p:clrMapOvr>
  <p:transition>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3">
        <a:schemeClr val="bg1"/>
      </p:bgRef>
    </p:bg>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8229600" cy="1143000"/>
          </a:xfrm>
        </p:spPr>
        <p:txBody>
          <a:bodyPr anchor="ctr"/>
          <a:lstStyle>
            <a:lvl1pPr>
              <a:defRPr/>
            </a:lvl1pPr>
            <a:extLst/>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smtClean="0"/>
              <a:t>Cliquez pour modifier les styles du texte du masque</a:t>
            </a:r>
          </a:p>
        </p:txBody>
      </p:sp>
      <p:sp>
        <p:nvSpPr>
          <p:cNvPr id="5" name="Espace réservé du contenu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6" name="Espace réservé du contenu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Espace réservé de la date 6"/>
          <p:cNvSpPr>
            <a:spLocks noGrp="1"/>
          </p:cNvSpPr>
          <p:nvPr>
            <p:ph type="dt" sz="half" idx="10"/>
          </p:nvPr>
        </p:nvSpPr>
        <p:spPr/>
        <p:txBody>
          <a:bodyPr/>
          <a:lstStyle>
            <a:extLst/>
          </a:lstStyle>
          <a:p>
            <a:fld id="{EA3F1233-59E0-46E1-92FD-0CD0EE120203}" type="datetimeFigureOut">
              <a:rPr lang="fr-FR" smtClean="0"/>
              <a:pPr/>
              <a:t>11/05/2020</a:t>
            </a:fld>
            <a:endParaRPr lang="fr-FR"/>
          </a:p>
        </p:txBody>
      </p:sp>
      <p:sp>
        <p:nvSpPr>
          <p:cNvPr id="8" name="Espace réservé du pied de page 7"/>
          <p:cNvSpPr>
            <a:spLocks noGrp="1"/>
          </p:cNvSpPr>
          <p:nvPr>
            <p:ph type="ftr" sz="quarter" idx="11"/>
          </p:nvPr>
        </p:nvSpPr>
        <p:spPr/>
        <p:txBody>
          <a:bodyPr/>
          <a:lstStyle>
            <a:extLst/>
          </a:lstStyle>
          <a:p>
            <a:endParaRPr lang="fr-FR"/>
          </a:p>
        </p:txBody>
      </p:sp>
      <p:sp>
        <p:nvSpPr>
          <p:cNvPr id="9" name="Espace réservé du numéro de diapositive 8"/>
          <p:cNvSpPr>
            <a:spLocks noGrp="1"/>
          </p:cNvSpPr>
          <p:nvPr>
            <p:ph type="sldNum" sz="quarter" idx="12"/>
          </p:nvPr>
        </p:nvSpPr>
        <p:spPr/>
        <p:txBody>
          <a:bodyPr/>
          <a:lstStyle>
            <a:extLst/>
          </a:lstStyle>
          <a:p>
            <a:fld id="{CD12B615-4BCE-4109-BEFB-4F419326EA37}" type="slidenum">
              <a:rPr lang="fr-FR" smtClean="0"/>
              <a:pPr/>
              <a:t>‹N°›</a:t>
            </a:fld>
            <a:endParaRPr lang="fr-FR"/>
          </a:p>
        </p:txBody>
      </p:sp>
    </p:spTree>
  </p:cSld>
  <p:clrMapOvr>
    <a:overrideClrMapping bg1="lt1" tx1="dk1" bg2="lt2" tx2="dk2" accent1="accent1" accent2="accent2" accent3="accent3" accent4="accent4" accent5="accent5" accent6="accent6" hlink="hlink" folHlink="folHlink"/>
  </p:clrMapOvr>
  <p:transition>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bg>
      <p:bgRef idx="1002">
        <a:schemeClr val="bg1"/>
      </p:bgRef>
    </p:bg>
    <p:spTree>
      <p:nvGrpSpPr>
        <p:cNvPr id="1" name=""/>
        <p:cNvGrpSpPr/>
        <p:nvPr/>
      </p:nvGrpSpPr>
      <p:grpSpPr>
        <a:xfrm>
          <a:off x="0" y="0"/>
          <a:ext cx="0" cy="0"/>
          <a:chOff x="0" y="0"/>
          <a:chExt cx="0" cy="0"/>
        </a:xfrm>
      </p:grpSpPr>
      <p:sp>
        <p:nvSpPr>
          <p:cNvPr id="3" name="Espace réservé de la date 2"/>
          <p:cNvSpPr>
            <a:spLocks noGrp="1"/>
          </p:cNvSpPr>
          <p:nvPr>
            <p:ph type="dt" sz="half" idx="10"/>
          </p:nvPr>
        </p:nvSpPr>
        <p:spPr/>
        <p:txBody>
          <a:bodyPr/>
          <a:lstStyle>
            <a:extLst/>
          </a:lstStyle>
          <a:p>
            <a:fld id="{EA3F1233-59E0-46E1-92FD-0CD0EE120203}" type="datetimeFigureOut">
              <a:rPr lang="fr-FR" smtClean="0"/>
              <a:pPr/>
              <a:t>11/05/2020</a:t>
            </a:fld>
            <a:endParaRPr lang="fr-FR"/>
          </a:p>
        </p:txBody>
      </p:sp>
      <p:sp>
        <p:nvSpPr>
          <p:cNvPr id="4" name="Espace réservé du pied de page 3"/>
          <p:cNvSpPr>
            <a:spLocks noGrp="1"/>
          </p:cNvSpPr>
          <p:nvPr>
            <p:ph type="ftr" sz="quarter" idx="11"/>
          </p:nvPr>
        </p:nvSpPr>
        <p:spPr/>
        <p:txBody>
          <a:bodyPr/>
          <a:lstStyle>
            <a:extLst/>
          </a:lstStyle>
          <a:p>
            <a:endParaRPr lang="fr-FR"/>
          </a:p>
        </p:txBody>
      </p:sp>
      <p:sp>
        <p:nvSpPr>
          <p:cNvPr id="5" name="Espace réservé du numéro de diapositive 4"/>
          <p:cNvSpPr>
            <a:spLocks noGrp="1"/>
          </p:cNvSpPr>
          <p:nvPr>
            <p:ph type="sldNum" sz="quarter" idx="12"/>
          </p:nvPr>
        </p:nvSpPr>
        <p:spPr/>
        <p:txBody>
          <a:bodyPr/>
          <a:lstStyle>
            <a:extLst/>
          </a:lstStyle>
          <a:p>
            <a:fld id="{CD12B615-4BCE-4109-BEFB-4F419326EA37}" type="slidenum">
              <a:rPr lang="fr-FR" smtClean="0"/>
              <a:pPr/>
              <a:t>‹N°›</a:t>
            </a:fld>
            <a:endParaRPr lang="fr-FR"/>
          </a:p>
        </p:txBody>
      </p:sp>
      <p:sp>
        <p:nvSpPr>
          <p:cNvPr id="6" name="Titre 5"/>
          <p:cNvSpPr>
            <a:spLocks noGrp="1"/>
          </p:cNvSpPr>
          <p:nvPr>
            <p:ph type="title"/>
          </p:nvPr>
        </p:nvSpPr>
        <p:spPr/>
        <p:txBody>
          <a:bodyPr rtlCol="0"/>
          <a:lstStyle>
            <a:extLst/>
          </a:lstStyle>
          <a:p>
            <a:r>
              <a:rPr kumimoji="0" lang="fr-FR" smtClean="0"/>
              <a:t>Cliquez pour modifier le style du titre</a:t>
            </a:r>
            <a:endParaRPr kumimoji="0" lang="en-US"/>
          </a:p>
        </p:txBody>
      </p:sp>
    </p:spTree>
  </p:cSld>
  <p:clrMapOvr>
    <a:overrideClrMapping bg1="dk1" tx1="lt1" bg2="dk2" tx2="lt2" accent1="accent1" accent2="accent2" accent3="accent3" accent4="accent4" accent5="accent5" accent6="accent6" hlink="hlink" folHlink="folHlink"/>
  </p:clrMapOvr>
  <p:transition>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extLst/>
          </a:lstStyle>
          <a:p>
            <a:fld id="{EA3F1233-59E0-46E1-92FD-0CD0EE120203}" type="datetimeFigureOut">
              <a:rPr lang="fr-FR" smtClean="0"/>
              <a:pPr/>
              <a:t>11/05/2020</a:t>
            </a:fld>
            <a:endParaRPr lang="fr-FR"/>
          </a:p>
        </p:txBody>
      </p:sp>
      <p:sp>
        <p:nvSpPr>
          <p:cNvPr id="3" name="Espace réservé du pied de page 2"/>
          <p:cNvSpPr>
            <a:spLocks noGrp="1"/>
          </p:cNvSpPr>
          <p:nvPr>
            <p:ph type="ftr" sz="quarter" idx="11"/>
          </p:nvPr>
        </p:nvSpPr>
        <p:spPr/>
        <p:txBody>
          <a:bodyPr/>
          <a:lstStyle>
            <a:extLst/>
          </a:lstStyle>
          <a:p>
            <a:endParaRPr lang="fr-FR"/>
          </a:p>
        </p:txBody>
      </p:sp>
      <p:sp>
        <p:nvSpPr>
          <p:cNvPr id="4" name="Espace réservé du numéro de diapositive 3"/>
          <p:cNvSpPr>
            <a:spLocks noGrp="1"/>
          </p:cNvSpPr>
          <p:nvPr>
            <p:ph type="sldNum" sz="quarter" idx="12"/>
          </p:nvPr>
        </p:nvSpPr>
        <p:spPr/>
        <p:txBody>
          <a:bodyPr/>
          <a:lstStyle>
            <a:extLst/>
          </a:lstStyle>
          <a:p>
            <a:fld id="{CD12B615-4BCE-4109-BEFB-4F419326EA37}" type="slidenum">
              <a:rPr lang="fr-FR" smtClean="0"/>
              <a:pPr/>
              <a:t>‹N°›</a:t>
            </a:fld>
            <a:endParaRPr lang="fr-FR"/>
          </a:p>
        </p:txBody>
      </p:sp>
    </p:spTree>
  </p:cSld>
  <p:clrMapOvr>
    <a:masterClrMapping/>
  </p:clrMapOvr>
  <p:transition>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3">
        <a:schemeClr val="bg1"/>
      </p:bgRef>
    </p:bg>
    <p:spTree>
      <p:nvGrpSpPr>
        <p:cNvPr id="1" name=""/>
        <p:cNvGrpSpPr/>
        <p:nvPr/>
      </p:nvGrpSpPr>
      <p:grpSpPr>
        <a:xfrm>
          <a:off x="0" y="0"/>
          <a:ext cx="0" cy="0"/>
          <a:chOff x="0" y="0"/>
          <a:chExt cx="0" cy="0"/>
        </a:xfrm>
      </p:grpSpPr>
      <p:sp>
        <p:nvSpPr>
          <p:cNvPr id="2" name="Titr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fr-FR" smtClean="0"/>
              <a:t>Cliquez pour modifier les styles du texte du masque</a:t>
            </a:r>
          </a:p>
        </p:txBody>
      </p:sp>
      <p:sp>
        <p:nvSpPr>
          <p:cNvPr id="4" name="Espace réservé du contenu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a:xfrm>
            <a:off x="6727032" y="6407944"/>
            <a:ext cx="1920240" cy="365760"/>
          </a:xfrm>
        </p:spPr>
        <p:txBody>
          <a:bodyPr/>
          <a:lstStyle>
            <a:extLst/>
          </a:lstStyle>
          <a:p>
            <a:fld id="{EA3F1233-59E0-46E1-92FD-0CD0EE120203}" type="datetimeFigureOut">
              <a:rPr lang="fr-FR" smtClean="0"/>
              <a:pPr/>
              <a:t>11/05/2020</a:t>
            </a:fld>
            <a:endParaRPr lang="fr-FR"/>
          </a:p>
        </p:txBody>
      </p:sp>
      <p:sp>
        <p:nvSpPr>
          <p:cNvPr id="6" name="Espace réservé du pied de page 5"/>
          <p:cNvSpPr>
            <a:spLocks noGrp="1"/>
          </p:cNvSpPr>
          <p:nvPr>
            <p:ph type="ftr" sz="quarter" idx="11"/>
          </p:nvPr>
        </p:nvSpPr>
        <p:spPr/>
        <p:txBody>
          <a:bodyPr/>
          <a:lstStyle>
            <a:extLst/>
          </a:lstStyle>
          <a:p>
            <a:endParaRPr lang="fr-FR"/>
          </a:p>
        </p:txBody>
      </p:sp>
      <p:sp>
        <p:nvSpPr>
          <p:cNvPr id="7" name="Espace réservé du numéro de diapositive 6"/>
          <p:cNvSpPr>
            <a:spLocks noGrp="1"/>
          </p:cNvSpPr>
          <p:nvPr>
            <p:ph type="sldNum" sz="quarter" idx="12"/>
          </p:nvPr>
        </p:nvSpPr>
        <p:spPr/>
        <p:txBody>
          <a:bodyPr/>
          <a:lstStyle>
            <a:extLst/>
          </a:lstStyle>
          <a:p>
            <a:fld id="{CD12B615-4BCE-4109-BEFB-4F419326EA37}" type="slidenum">
              <a:rPr lang="fr-FR" smtClean="0"/>
              <a:pPr/>
              <a:t>‹N°›</a:t>
            </a:fld>
            <a:endParaRPr lang="fr-FR"/>
          </a:p>
        </p:txBody>
      </p:sp>
    </p:spTree>
  </p:cSld>
  <p:clrMapOvr>
    <a:overrideClrMapping bg1="lt1" tx1="dk1" bg2="lt2" tx2="dk2" accent1="accent1" accent2="accent2" accent3="accent3" accent4="accent4" accent5="accent5" accent6="accent6" hlink="hlink" folHlink="folHlink"/>
  </p:clrMapOvr>
  <p:transition>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bg>
      <p:bgRef idx="1002">
        <a:schemeClr val="bg1"/>
      </p:bgRef>
    </p:bg>
    <p:spTree>
      <p:nvGrpSpPr>
        <p:cNvPr id="1" name=""/>
        <p:cNvGrpSpPr/>
        <p:nvPr/>
      </p:nvGrpSpPr>
      <p:grpSpPr>
        <a:xfrm>
          <a:off x="0" y="0"/>
          <a:ext cx="0" cy="0"/>
          <a:chOff x="0" y="0"/>
          <a:chExt cx="0" cy="0"/>
        </a:xfrm>
      </p:grpSpPr>
      <p:sp>
        <p:nvSpPr>
          <p:cNvPr id="4" name="Espace réservé du texte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fr-FR" smtClean="0"/>
              <a:t>Cliquez pour modifier les styles du texte du masque</a:t>
            </a:r>
          </a:p>
        </p:txBody>
      </p:sp>
      <p:sp>
        <p:nvSpPr>
          <p:cNvPr id="3" name="Espace réservé pour une image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fr-FR" smtClean="0"/>
              <a:t>Cliquez sur l'icône pour ajouter une image</a:t>
            </a:r>
            <a:endParaRPr kumimoji="0" lang="en-US" dirty="0"/>
          </a:p>
        </p:txBody>
      </p:sp>
      <p:sp>
        <p:nvSpPr>
          <p:cNvPr id="5" name="Espace réservé de la date 4"/>
          <p:cNvSpPr>
            <a:spLocks noGrp="1"/>
          </p:cNvSpPr>
          <p:nvPr>
            <p:ph type="dt" sz="half" idx="10"/>
          </p:nvPr>
        </p:nvSpPr>
        <p:spPr/>
        <p:txBody>
          <a:bodyPr/>
          <a:lstStyle>
            <a:lvl1pPr>
              <a:defRPr>
                <a:solidFill>
                  <a:schemeClr val="tx1"/>
                </a:solidFill>
              </a:defRPr>
            </a:lvl1pPr>
            <a:extLst/>
          </a:lstStyle>
          <a:p>
            <a:fld id="{EA3F1233-59E0-46E1-92FD-0CD0EE120203}" type="datetimeFigureOut">
              <a:rPr lang="fr-FR" smtClean="0"/>
              <a:pPr/>
              <a:t>11/05/2020</a:t>
            </a:fld>
            <a:endParaRPr lang="fr-FR"/>
          </a:p>
        </p:txBody>
      </p:sp>
      <p:sp>
        <p:nvSpPr>
          <p:cNvPr id="6" name="Espace réservé du pied de page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fr-FR"/>
          </a:p>
        </p:txBody>
      </p:sp>
      <p:sp>
        <p:nvSpPr>
          <p:cNvPr id="7" name="Espace réservé du numéro de diapositive 6"/>
          <p:cNvSpPr>
            <a:spLocks noGrp="1"/>
          </p:cNvSpPr>
          <p:nvPr>
            <p:ph type="sldNum" sz="quarter" idx="12"/>
          </p:nvPr>
        </p:nvSpPr>
        <p:spPr/>
        <p:txBody>
          <a:bodyPr/>
          <a:lstStyle>
            <a:lvl1pPr>
              <a:defRPr>
                <a:solidFill>
                  <a:schemeClr val="tx1"/>
                </a:solidFill>
              </a:defRPr>
            </a:lvl1pPr>
            <a:extLst/>
          </a:lstStyle>
          <a:p>
            <a:fld id="{CD12B615-4BCE-4109-BEFB-4F419326EA37}" type="slidenum">
              <a:rPr lang="fr-FR" smtClean="0"/>
              <a:pPr/>
              <a:t>‹N°›</a:t>
            </a:fld>
            <a:endParaRPr lang="fr-FR"/>
          </a:p>
        </p:txBody>
      </p:sp>
      <p:sp>
        <p:nvSpPr>
          <p:cNvPr id="2" name="Titr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fr-FR" smtClean="0"/>
              <a:t>Cliquez pour modifier le style du titre</a:t>
            </a:r>
            <a:endParaRPr kumimoji="0" lang="en-US"/>
          </a:p>
        </p:txBody>
      </p:sp>
      <p:sp>
        <p:nvSpPr>
          <p:cNvPr id="8" name="Forme libre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orme libre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Triangle rect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Connecteur droit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457200" y="1481329"/>
            <a:ext cx="8229600" cy="4386071"/>
          </a:xfrm>
        </p:spPr>
        <p:txBody>
          <a:bodyPr vert="eaVert"/>
          <a:lstStyle>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extLst/>
          </a:lstStyle>
          <a:p>
            <a:fld id="{EA3F1233-59E0-46E1-92FD-0CD0EE120203}" type="datetimeFigureOut">
              <a:rPr lang="fr-FR" smtClean="0"/>
              <a:pPr/>
              <a:t>11/05/2020</a:t>
            </a:fld>
            <a:endParaRPr lang="fr-FR"/>
          </a:p>
        </p:txBody>
      </p:sp>
      <p:sp>
        <p:nvSpPr>
          <p:cNvPr id="5" name="Espace réservé du pied de page 4"/>
          <p:cNvSpPr>
            <a:spLocks noGrp="1"/>
          </p:cNvSpPr>
          <p:nvPr>
            <p:ph type="ftr" sz="quarter" idx="11"/>
          </p:nvPr>
        </p:nvSpPr>
        <p:spPr/>
        <p:txBody>
          <a:bodyPr/>
          <a:lstStyle>
            <a:extLst/>
          </a:lstStyle>
          <a:p>
            <a:endParaRPr lang="fr-FR"/>
          </a:p>
        </p:txBody>
      </p:sp>
      <p:sp>
        <p:nvSpPr>
          <p:cNvPr id="6" name="Espace réservé du numéro de diapositive 5"/>
          <p:cNvSpPr>
            <a:spLocks noGrp="1"/>
          </p:cNvSpPr>
          <p:nvPr>
            <p:ph type="sldNum" sz="quarter" idx="12"/>
          </p:nvPr>
        </p:nvSpPr>
        <p:spPr/>
        <p:txBody>
          <a:bodyPr/>
          <a:lstStyle>
            <a:extLst/>
          </a:lstStyle>
          <a:p>
            <a:fld id="{CD12B615-4BCE-4109-BEFB-4F419326EA37}" type="slidenum">
              <a:rPr lang="fr-FR" smtClean="0"/>
              <a:pPr/>
              <a:t>‹N°›</a:t>
            </a:fld>
            <a:endParaRPr lang="fr-FR"/>
          </a:p>
        </p:txBody>
      </p:sp>
    </p:spTree>
  </p:cSld>
  <p:clrMapOvr>
    <a:masterClrMapping/>
  </p:clrMapOvr>
  <p:transition>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844013" y="274640"/>
            <a:ext cx="1777470" cy="5592761"/>
          </a:xfrm>
        </p:spPr>
        <p:txBody>
          <a:bodyPr vert="eaVert"/>
          <a:lstStyle>
            <a:extLs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457200" y="274641"/>
            <a:ext cx="6324600" cy="5592760"/>
          </a:xfrm>
        </p:spPr>
        <p:txBody>
          <a:bodyPr vert="eaVert"/>
          <a:lstStyle>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extLst/>
          </a:lstStyle>
          <a:p>
            <a:fld id="{EA3F1233-59E0-46E1-92FD-0CD0EE120203}" type="datetimeFigureOut">
              <a:rPr lang="fr-FR" smtClean="0"/>
              <a:pPr/>
              <a:t>11/05/2020</a:t>
            </a:fld>
            <a:endParaRPr lang="fr-FR"/>
          </a:p>
        </p:txBody>
      </p:sp>
      <p:sp>
        <p:nvSpPr>
          <p:cNvPr id="5" name="Espace réservé du pied de page 4"/>
          <p:cNvSpPr>
            <a:spLocks noGrp="1"/>
          </p:cNvSpPr>
          <p:nvPr>
            <p:ph type="ftr" sz="quarter" idx="11"/>
          </p:nvPr>
        </p:nvSpPr>
        <p:spPr/>
        <p:txBody>
          <a:bodyPr/>
          <a:lstStyle>
            <a:extLst/>
          </a:lstStyle>
          <a:p>
            <a:endParaRPr lang="fr-FR"/>
          </a:p>
        </p:txBody>
      </p:sp>
      <p:sp>
        <p:nvSpPr>
          <p:cNvPr id="6" name="Espace réservé du numéro de diapositive 5"/>
          <p:cNvSpPr>
            <a:spLocks noGrp="1"/>
          </p:cNvSpPr>
          <p:nvPr>
            <p:ph type="sldNum" sz="quarter" idx="12"/>
          </p:nvPr>
        </p:nvSpPr>
        <p:spPr/>
        <p:txBody>
          <a:bodyPr/>
          <a:lstStyle>
            <a:extLst/>
          </a:lstStyle>
          <a:p>
            <a:fld id="{CD12B615-4BCE-4109-BEFB-4F419326EA37}" type="slidenum">
              <a:rPr lang="fr-FR" smtClean="0"/>
              <a:pPr/>
              <a:t>‹N°›</a:t>
            </a:fld>
            <a:endParaRPr lang="fr-FR"/>
          </a:p>
        </p:txBody>
      </p:sp>
    </p:spTree>
  </p:cSld>
  <p:clrMapOvr>
    <a:masterClrMapping/>
  </p:clrMapOvr>
  <p:transition>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orme libre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orme libre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Triangle rect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Connecteur droit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Espace réservé du titre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fr-FR" smtClean="0"/>
              <a:t>Cliquez pour modifier le style du titre</a:t>
            </a:r>
            <a:endParaRPr kumimoji="0" lang="en-US"/>
          </a:p>
        </p:txBody>
      </p:sp>
      <p:sp>
        <p:nvSpPr>
          <p:cNvPr id="30" name="Espace réservé du texte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0" name="Espace réservé de la date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EA3F1233-59E0-46E1-92FD-0CD0EE120203}" type="datetimeFigureOut">
              <a:rPr lang="fr-FR" smtClean="0"/>
              <a:pPr/>
              <a:t>11/05/2020</a:t>
            </a:fld>
            <a:endParaRPr lang="fr-FR"/>
          </a:p>
        </p:txBody>
      </p:sp>
      <p:sp>
        <p:nvSpPr>
          <p:cNvPr id="22" name="Espace réservé du pied de page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fr-FR"/>
          </a:p>
        </p:txBody>
      </p:sp>
      <p:sp>
        <p:nvSpPr>
          <p:cNvPr id="18" name="Espace réservé du numéro de diapositive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CD12B615-4BCE-4109-BEFB-4F419326EA37}"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wipe/>
  </p:transition>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564904"/>
            <a:ext cx="7772400" cy="1829761"/>
          </a:xfrm>
        </p:spPr>
        <p:txBody>
          <a:bodyPr/>
          <a:lstStyle/>
          <a:p>
            <a:pPr algn="ctr"/>
            <a:r>
              <a:rPr lang="fr-FR" dirty="0" smtClean="0"/>
              <a:t>SGBD MYSQL</a:t>
            </a:r>
            <a:br>
              <a:rPr lang="fr-FR" dirty="0" smtClean="0"/>
            </a:br>
            <a:endParaRPr lang="fr-FR" dirty="0"/>
          </a:p>
        </p:txBody>
      </p:sp>
    </p:spTree>
  </p:cSld>
  <p:clrMapOvr>
    <a:masterClrMapping/>
  </p:clrMapOvr>
  <p:transition>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42910" y="1500174"/>
            <a:ext cx="8229600" cy="4525963"/>
          </a:xfrm>
        </p:spPr>
        <p:txBody>
          <a:bodyPr>
            <a:normAutofit/>
          </a:bodyPr>
          <a:lstStyle/>
          <a:p>
            <a:r>
              <a:rPr lang="fr-FR" sz="2400" dirty="0" smtClean="0"/>
              <a:t>Introduction générale</a:t>
            </a:r>
          </a:p>
          <a:p>
            <a:r>
              <a:rPr lang="fr-FR" sz="2400" dirty="0" smtClean="0"/>
              <a:t>Le langage SQL</a:t>
            </a:r>
          </a:p>
          <a:p>
            <a:r>
              <a:rPr lang="fr-FR" sz="2400" dirty="0" smtClean="0"/>
              <a:t>Travaux pratiques</a:t>
            </a:r>
          </a:p>
          <a:p>
            <a:endParaRPr lang="fr-FR" dirty="0"/>
          </a:p>
        </p:txBody>
      </p:sp>
      <p:sp>
        <p:nvSpPr>
          <p:cNvPr id="2" name="Titre 1"/>
          <p:cNvSpPr>
            <a:spLocks noGrp="1"/>
          </p:cNvSpPr>
          <p:nvPr>
            <p:ph type="title"/>
          </p:nvPr>
        </p:nvSpPr>
        <p:spPr/>
        <p:txBody>
          <a:bodyPr/>
          <a:lstStyle/>
          <a:p>
            <a:r>
              <a:rPr lang="fr-FR" dirty="0" smtClean="0"/>
              <a:t>Sommaire</a:t>
            </a:r>
            <a:endParaRPr lang="fr-FR" dirty="0"/>
          </a:p>
        </p:txBody>
      </p:sp>
    </p:spTree>
  </p:cSld>
  <p:clrMapOvr>
    <a:masterClrMapping/>
  </p:clrMapOvr>
  <p:transition>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2"/>
          <p:cNvSpPr>
            <a:spLocks noGrp="1"/>
          </p:cNvSpPr>
          <p:nvPr>
            <p:ph type="title"/>
          </p:nvPr>
        </p:nvSpPr>
        <p:spPr>
          <a:xfrm>
            <a:off x="914400" y="2786058"/>
            <a:ext cx="8229600" cy="725470"/>
          </a:xfrm>
        </p:spPr>
        <p:txBody>
          <a:bodyPr/>
          <a:lstStyle/>
          <a:p>
            <a:r>
              <a:rPr lang="fr-FR" dirty="0" smtClean="0"/>
              <a:t>INTRODUCTION GÉNÉRALE</a:t>
            </a:r>
            <a:endParaRPr lang="fr-FR" dirty="0"/>
          </a:p>
        </p:txBody>
      </p:sp>
    </p:spTree>
  </p:cSld>
  <p:clrMapOvr>
    <a:masterClrMapping/>
  </p:clrMapOvr>
  <p:transition>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a:xfrm>
            <a:off x="285720" y="357166"/>
            <a:ext cx="6072230" cy="5143536"/>
          </a:xfrm>
        </p:spPr>
        <p:txBody>
          <a:bodyPr>
            <a:noAutofit/>
          </a:bodyPr>
          <a:lstStyle/>
          <a:p>
            <a:pPr>
              <a:buNone/>
            </a:pPr>
            <a:r>
              <a:rPr lang="fr-FR" sz="2400" b="1" dirty="0" smtClean="0">
                <a:solidFill>
                  <a:schemeClr val="accent1"/>
                </a:solidFill>
                <a:latin typeface="Times New Roman" pitchFamily="18" charset="0"/>
                <a:cs typeface="Times New Roman" pitchFamily="18" charset="0"/>
              </a:rPr>
              <a:t>Base de données ou BD</a:t>
            </a:r>
          </a:p>
          <a:p>
            <a:pPr>
              <a:buNone/>
            </a:pPr>
            <a:endParaRPr lang="fr-FR" sz="2000" b="1" dirty="0" smtClean="0">
              <a:latin typeface="Times New Roman" pitchFamily="18" charset="0"/>
              <a:cs typeface="Times New Roman" pitchFamily="18" charset="0"/>
            </a:endParaRPr>
          </a:p>
          <a:p>
            <a:pPr marL="4763" indent="17463" algn="just">
              <a:buNone/>
            </a:pPr>
            <a:r>
              <a:rPr lang="fr-FR" sz="2000" dirty="0" smtClean="0">
                <a:latin typeface="Times New Roman" pitchFamily="18" charset="0"/>
                <a:cs typeface="Times New Roman" pitchFamily="18" charset="0"/>
              </a:rPr>
              <a:t>Une base de données informatique est un </a:t>
            </a:r>
            <a:r>
              <a:rPr lang="fr-FR" sz="2000" b="1" dirty="0" smtClean="0">
                <a:latin typeface="Times New Roman" pitchFamily="18" charset="0"/>
                <a:cs typeface="Times New Roman" pitchFamily="18" charset="0"/>
              </a:rPr>
              <a:t>ensemble de données</a:t>
            </a:r>
            <a:r>
              <a:rPr lang="fr-FR" sz="2000" dirty="0" smtClean="0">
                <a:latin typeface="Times New Roman" pitchFamily="18" charset="0"/>
                <a:cs typeface="Times New Roman" pitchFamily="18" charset="0"/>
              </a:rPr>
              <a:t> qui ont été stockées sur un support informatique, et </a:t>
            </a:r>
            <a:r>
              <a:rPr lang="fr-FR" sz="2000" b="1" dirty="0" smtClean="0">
                <a:latin typeface="Times New Roman" pitchFamily="18" charset="0"/>
                <a:cs typeface="Times New Roman" pitchFamily="18" charset="0"/>
              </a:rPr>
              <a:t>organisées et structurées</a:t>
            </a:r>
            <a:r>
              <a:rPr lang="fr-FR" sz="2000" dirty="0" smtClean="0">
                <a:latin typeface="Times New Roman" pitchFamily="18" charset="0"/>
                <a:cs typeface="Times New Roman" pitchFamily="18" charset="0"/>
              </a:rPr>
              <a:t> de manière à pouvoir facilement consulter et modifier leur contenu.</a:t>
            </a:r>
          </a:p>
          <a:p>
            <a:pPr algn="just">
              <a:buNone/>
            </a:pPr>
            <a:endParaRPr lang="fr-FR" sz="2000" b="1" dirty="0" smtClean="0">
              <a:latin typeface="Times New Roman" pitchFamily="18" charset="0"/>
              <a:cs typeface="Times New Roman" pitchFamily="18" charset="0"/>
            </a:endParaRPr>
          </a:p>
          <a:p>
            <a:pPr algn="just">
              <a:buNone/>
            </a:pPr>
            <a:endParaRPr lang="fr-FR" sz="2000" dirty="0" smtClean="0">
              <a:latin typeface="Times New Roman" pitchFamily="18" charset="0"/>
              <a:cs typeface="Times New Roman" pitchFamily="18" charset="0"/>
            </a:endParaRPr>
          </a:p>
          <a:p>
            <a:pPr algn="just">
              <a:buNone/>
            </a:pPr>
            <a:r>
              <a:rPr lang="fr-FR" sz="2400" b="1" dirty="0" smtClean="0">
                <a:solidFill>
                  <a:schemeClr val="accent1"/>
                </a:solidFill>
                <a:latin typeface="Times New Roman" pitchFamily="18" charset="0"/>
                <a:cs typeface="Times New Roman" pitchFamily="18" charset="0"/>
              </a:rPr>
              <a:t>Système de Gestion de Base de données ou SGBD</a:t>
            </a:r>
          </a:p>
          <a:p>
            <a:pPr>
              <a:buNone/>
            </a:pPr>
            <a:endParaRPr lang="fr-FR" sz="2000" b="1" dirty="0" smtClean="0">
              <a:latin typeface="Times New Roman" pitchFamily="18" charset="0"/>
              <a:cs typeface="Times New Roman" pitchFamily="18" charset="0"/>
            </a:endParaRPr>
          </a:p>
          <a:p>
            <a:pPr marL="4763" indent="17463" algn="just">
              <a:buNone/>
            </a:pPr>
            <a:r>
              <a:rPr lang="fr-FR" sz="2000" dirty="0" smtClean="0">
                <a:latin typeface="Times New Roman" pitchFamily="18" charset="0"/>
                <a:cs typeface="Times New Roman" pitchFamily="18" charset="0"/>
              </a:rPr>
              <a:t>Un </a:t>
            </a:r>
            <a:r>
              <a:rPr lang="fr-FR" sz="2000" b="1" dirty="0" smtClean="0">
                <a:latin typeface="Times New Roman" pitchFamily="18" charset="0"/>
                <a:cs typeface="Times New Roman" pitchFamily="18" charset="0"/>
              </a:rPr>
              <a:t>Système de Gestion de Base de Données</a:t>
            </a:r>
            <a:r>
              <a:rPr lang="fr-FR" sz="2000" dirty="0" smtClean="0">
                <a:latin typeface="Times New Roman" pitchFamily="18" charset="0"/>
                <a:cs typeface="Times New Roman" pitchFamily="18" charset="0"/>
              </a:rPr>
              <a:t> (SGBD) est un logiciel qui permet de stocker des informations dans une base de données. Un tel système permet de lire, écrire, modifier, trier, transformer ou même imprimer les données qui sont contenus dans la base de données.</a:t>
            </a:r>
          </a:p>
          <a:p>
            <a:pPr algn="just">
              <a:buNone/>
            </a:pPr>
            <a:endParaRPr lang="fr-FR" sz="2000" b="1" dirty="0" smtClean="0">
              <a:latin typeface="Times New Roman" pitchFamily="18" charset="0"/>
              <a:cs typeface="Times New Roman" pitchFamily="18" charset="0"/>
            </a:endParaRPr>
          </a:p>
          <a:p>
            <a:pPr>
              <a:buNone/>
            </a:pPr>
            <a:r>
              <a:rPr lang="fr-FR" sz="2000" dirty="0" smtClean="0">
                <a:latin typeface="Times New Roman" pitchFamily="18" charset="0"/>
                <a:cs typeface="Times New Roman" pitchFamily="18" charset="0"/>
              </a:rPr>
              <a:t>	</a:t>
            </a:r>
            <a:endParaRPr lang="fr-FR" sz="2000" b="1" dirty="0">
              <a:latin typeface="Times New Roman" pitchFamily="18" charset="0"/>
              <a:cs typeface="Times New Roman" pitchFamily="18" charset="0"/>
            </a:endParaRPr>
          </a:p>
        </p:txBody>
      </p:sp>
      <p:pic>
        <p:nvPicPr>
          <p:cNvPr id="1026" name="Picture 2" descr="C:\Users\Miharantsoa\Desktop\images2.jpg"/>
          <p:cNvPicPr>
            <a:picLocks noChangeAspect="1" noChangeArrowheads="1"/>
          </p:cNvPicPr>
          <p:nvPr/>
        </p:nvPicPr>
        <p:blipFill>
          <a:blip r:embed="rId2" cstate="print"/>
          <a:srcRect/>
          <a:stretch>
            <a:fillRect/>
          </a:stretch>
        </p:blipFill>
        <p:spPr bwMode="auto">
          <a:xfrm>
            <a:off x="6786578" y="214290"/>
            <a:ext cx="1924050" cy="2371725"/>
          </a:xfrm>
          <a:prstGeom prst="rect">
            <a:avLst/>
          </a:prstGeom>
          <a:noFill/>
        </p:spPr>
      </p:pic>
      <p:pic>
        <p:nvPicPr>
          <p:cNvPr id="1027" name="Picture 3" descr="C:\Users\Miharantsoa\Desktop\images3.jpg"/>
          <p:cNvPicPr>
            <a:picLocks noChangeAspect="1" noChangeArrowheads="1"/>
          </p:cNvPicPr>
          <p:nvPr/>
        </p:nvPicPr>
        <p:blipFill>
          <a:blip r:embed="rId3" cstate="print"/>
          <a:srcRect/>
          <a:stretch>
            <a:fillRect/>
          </a:stretch>
        </p:blipFill>
        <p:spPr bwMode="auto">
          <a:xfrm>
            <a:off x="6357918" y="3286124"/>
            <a:ext cx="2786082" cy="2614618"/>
          </a:xfrm>
          <a:prstGeom prst="rect">
            <a:avLst/>
          </a:prstGeom>
          <a:noFill/>
        </p:spPr>
      </p:pic>
    </p:spTree>
  </p:cSld>
  <p:clrMapOvr>
    <a:masterClrMapping/>
  </p:clrMapOvr>
  <p:transition>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a:xfrm>
            <a:off x="357158" y="500042"/>
            <a:ext cx="8358246" cy="5357850"/>
          </a:xfrm>
        </p:spPr>
        <p:txBody>
          <a:bodyPr>
            <a:normAutofit/>
          </a:bodyPr>
          <a:lstStyle/>
          <a:p>
            <a:pPr algn="just">
              <a:buNone/>
            </a:pPr>
            <a:r>
              <a:rPr lang="fr-FR" sz="2400" b="1" dirty="0" smtClean="0">
                <a:solidFill>
                  <a:schemeClr val="accent1"/>
                </a:solidFill>
                <a:latin typeface="Times New Roman" pitchFamily="18" charset="0"/>
                <a:cs typeface="Times New Roman" pitchFamily="18" charset="0"/>
              </a:rPr>
              <a:t>Objectifs des SGBD</a:t>
            </a:r>
          </a:p>
          <a:p>
            <a:pPr algn="just"/>
            <a:endParaRPr lang="fr-FR" sz="1800" dirty="0" smtClean="0">
              <a:latin typeface="Times New Roman" pitchFamily="18" charset="0"/>
              <a:cs typeface="Times New Roman" pitchFamily="18" charset="0"/>
            </a:endParaRPr>
          </a:p>
          <a:p>
            <a:pPr algn="just"/>
            <a:r>
              <a:rPr lang="fr-FR" sz="1800" b="1" dirty="0" smtClean="0">
                <a:latin typeface="Times New Roman" pitchFamily="18" charset="0"/>
                <a:cs typeface="Times New Roman" pitchFamily="18" charset="0"/>
              </a:rPr>
              <a:t>Organisation des données </a:t>
            </a:r>
            <a:r>
              <a:rPr lang="fr-FR" sz="1800" dirty="0" smtClean="0">
                <a:latin typeface="Times New Roman" pitchFamily="18" charset="0"/>
                <a:cs typeface="Times New Roman" pitchFamily="18" charset="0"/>
              </a:rPr>
              <a:t>: le SGBD organise les données en tables permanentes stockées sur disque; il crée les mécanismes garantissant un accès rapide aux données; il informe les utilisateurs sur ces structures.</a:t>
            </a:r>
          </a:p>
          <a:p>
            <a:pPr algn="just"/>
            <a:endParaRPr lang="fr-FR" sz="1800" dirty="0" smtClean="0">
              <a:latin typeface="Times New Roman" pitchFamily="18" charset="0"/>
              <a:cs typeface="Times New Roman" pitchFamily="18" charset="0"/>
            </a:endParaRPr>
          </a:p>
          <a:p>
            <a:pPr algn="just"/>
            <a:r>
              <a:rPr lang="fr-FR" sz="1800" dirty="0" smtClean="0">
                <a:latin typeface="Times New Roman" pitchFamily="18" charset="0"/>
                <a:cs typeface="Times New Roman" pitchFamily="18" charset="0"/>
              </a:rPr>
              <a:t> </a:t>
            </a:r>
            <a:r>
              <a:rPr lang="fr-FR" sz="1800" b="1" dirty="0" smtClean="0">
                <a:latin typeface="Times New Roman" pitchFamily="18" charset="0"/>
                <a:cs typeface="Times New Roman" pitchFamily="18" charset="0"/>
              </a:rPr>
              <a:t>Gestion des données </a:t>
            </a:r>
            <a:r>
              <a:rPr lang="fr-FR" sz="1800" dirty="0" smtClean="0">
                <a:latin typeface="Times New Roman" pitchFamily="18" charset="0"/>
                <a:cs typeface="Times New Roman" pitchFamily="18" charset="0"/>
              </a:rPr>
              <a:t>: le SGBD garantit l'évolution cohérente des données; il vérifie que les contraintes (unicité, référence entre tables, etc.) sont respectées.</a:t>
            </a:r>
          </a:p>
          <a:p>
            <a:pPr algn="just"/>
            <a:endParaRPr lang="fr-FR" sz="1800" dirty="0" smtClean="0">
              <a:latin typeface="Times New Roman" pitchFamily="18" charset="0"/>
              <a:cs typeface="Times New Roman" pitchFamily="18" charset="0"/>
            </a:endParaRPr>
          </a:p>
          <a:p>
            <a:pPr algn="just"/>
            <a:r>
              <a:rPr lang="fr-FR" sz="1800" b="1" dirty="0" smtClean="0">
                <a:latin typeface="Times New Roman" pitchFamily="18" charset="0"/>
                <a:cs typeface="Times New Roman" pitchFamily="18" charset="0"/>
              </a:rPr>
              <a:t>Accès aux données </a:t>
            </a:r>
            <a:r>
              <a:rPr lang="fr-FR" sz="1800" dirty="0" smtClean="0">
                <a:latin typeface="Times New Roman" pitchFamily="18" charset="0"/>
                <a:cs typeface="Times New Roman" pitchFamily="18" charset="0"/>
              </a:rPr>
              <a:t>: le SGBD permet l'accès aux données à la fois par l'utilisateur occasionnel et par les programmes de traitement de données.</a:t>
            </a:r>
          </a:p>
          <a:p>
            <a:pPr algn="just"/>
            <a:endParaRPr lang="fr-FR" sz="1800" dirty="0" smtClean="0">
              <a:latin typeface="Times New Roman" pitchFamily="18" charset="0"/>
              <a:cs typeface="Times New Roman" pitchFamily="18" charset="0"/>
            </a:endParaRPr>
          </a:p>
          <a:p>
            <a:pPr algn="just"/>
            <a:r>
              <a:rPr lang="fr-FR" sz="1800" dirty="0" smtClean="0">
                <a:latin typeface="Times New Roman" pitchFamily="18" charset="0"/>
                <a:cs typeface="Times New Roman" pitchFamily="18" charset="0"/>
              </a:rPr>
              <a:t>Protection contre les accidents :le SGBD garantit l'intégrité et l'accessibilité des données en cas d'incident ou d'attaque.</a:t>
            </a:r>
          </a:p>
          <a:p>
            <a:pPr algn="just"/>
            <a:endParaRPr lang="fr-FR" sz="1800" dirty="0" smtClean="0">
              <a:latin typeface="Times New Roman" pitchFamily="18" charset="0"/>
              <a:cs typeface="Times New Roman" pitchFamily="18" charset="0"/>
            </a:endParaRPr>
          </a:p>
        </p:txBody>
      </p:sp>
    </p:spTree>
  </p:cSld>
  <p:clrMapOvr>
    <a:masterClrMapping/>
  </p:clrMapOvr>
  <p:transition>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a:xfrm>
            <a:off x="428596" y="428604"/>
            <a:ext cx="8229600" cy="4525963"/>
          </a:xfrm>
        </p:spPr>
        <p:txBody>
          <a:bodyPr/>
          <a:lstStyle/>
          <a:p>
            <a:pPr algn="just"/>
            <a:r>
              <a:rPr lang="fr-FR" sz="1600" b="1" dirty="0" smtClean="0"/>
              <a:t>Gestion des accès concurrents : </a:t>
            </a:r>
            <a:r>
              <a:rPr lang="fr-FR" sz="1600" dirty="0" smtClean="0"/>
              <a:t>le SGBD permet l'accès simultané aux données par des centaines voire des milliers d'utilisateurs. Il contrôle rigoureusement les opérations simultanées sur les mêmes données.</a:t>
            </a:r>
          </a:p>
          <a:p>
            <a:pPr algn="just"/>
            <a:endParaRPr lang="fr-FR" sz="1600" dirty="0" smtClean="0"/>
          </a:p>
          <a:p>
            <a:pPr algn="just"/>
            <a:r>
              <a:rPr lang="fr-FR" sz="1600" b="1" dirty="0" smtClean="0"/>
              <a:t>Contrôle des accès : </a:t>
            </a:r>
            <a:r>
              <a:rPr lang="fr-FR" sz="1600" dirty="0" smtClean="0"/>
              <a:t>le SGBD garantit que seuls les utilisateurs autorisés peuvent accéder aux données et les modifier.</a:t>
            </a:r>
          </a:p>
          <a:p>
            <a:pPr>
              <a:buNone/>
            </a:pPr>
            <a:endParaRPr lang="fr-FR" dirty="0" smtClean="0"/>
          </a:p>
          <a:p>
            <a:pPr>
              <a:buNone/>
            </a:pPr>
            <a:endParaRPr lang="fr-FR" dirty="0"/>
          </a:p>
        </p:txBody>
      </p:sp>
      <p:pic>
        <p:nvPicPr>
          <p:cNvPr id="2051" name="Picture 3" descr="C:\Users\Miharantsoa\Desktop\Dirigeants-preparez-votre-base-donnees-economiques-sociales-F.jpg"/>
          <p:cNvPicPr>
            <a:picLocks noChangeAspect="1" noChangeArrowheads="1"/>
          </p:cNvPicPr>
          <p:nvPr/>
        </p:nvPicPr>
        <p:blipFill>
          <a:blip r:embed="rId2" cstate="print"/>
          <a:srcRect/>
          <a:stretch>
            <a:fillRect/>
          </a:stretch>
        </p:blipFill>
        <p:spPr bwMode="auto">
          <a:xfrm>
            <a:off x="1500166" y="2357430"/>
            <a:ext cx="6567233" cy="3714776"/>
          </a:xfrm>
          <a:prstGeom prst="rect">
            <a:avLst/>
          </a:prstGeom>
          <a:noFill/>
        </p:spPr>
      </p:pic>
    </p:spTree>
  </p:cSld>
  <p:clrMapOvr>
    <a:masterClrMapping/>
  </p:clrMapOvr>
  <p:transition>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a:xfrm>
            <a:off x="357158" y="214290"/>
            <a:ext cx="8229600" cy="5000660"/>
          </a:xfrm>
        </p:spPr>
        <p:txBody>
          <a:bodyPr>
            <a:noAutofit/>
          </a:bodyPr>
          <a:lstStyle/>
          <a:p>
            <a:pPr algn="just">
              <a:buNone/>
            </a:pPr>
            <a:r>
              <a:rPr lang="fr-FR" sz="2400" b="1" dirty="0" smtClean="0">
                <a:solidFill>
                  <a:schemeClr val="accent1"/>
                </a:solidFill>
                <a:latin typeface="Times New Roman" pitchFamily="18" charset="0"/>
                <a:cs typeface="Times New Roman" pitchFamily="18" charset="0"/>
              </a:rPr>
              <a:t>Historique</a:t>
            </a:r>
          </a:p>
          <a:p>
            <a:pPr algn="just">
              <a:buNone/>
            </a:pPr>
            <a:endParaRPr lang="fr-FR" sz="1800" b="1" dirty="0" smtClean="0">
              <a:latin typeface="Times New Roman" pitchFamily="18" charset="0"/>
              <a:cs typeface="Times New Roman" pitchFamily="18" charset="0"/>
            </a:endParaRPr>
          </a:p>
          <a:p>
            <a:pPr marL="0" indent="0" algn="just">
              <a:buNone/>
              <a:tabLst>
                <a:tab pos="0" algn="l"/>
              </a:tabLst>
            </a:pPr>
            <a:r>
              <a:rPr lang="fr-FR" sz="1800" dirty="0" smtClean="0">
                <a:latin typeface="Times New Roman" pitchFamily="18" charset="0"/>
                <a:cs typeface="Times New Roman" pitchFamily="18" charset="0"/>
              </a:rPr>
              <a:t>	Avant les SGBD : écriture de programmes par des programmeurs d’application utilisant le système de gestion de fichiers3 pour gérer et exploiter les données.</a:t>
            </a:r>
          </a:p>
          <a:p>
            <a:pPr marL="0" indent="0" algn="just">
              <a:buNone/>
            </a:pPr>
            <a:r>
              <a:rPr lang="fr-FR" sz="1800" dirty="0" smtClean="0">
                <a:latin typeface="Times New Roman" pitchFamily="18" charset="0"/>
                <a:cs typeface="Times New Roman" pitchFamily="18" charset="0"/>
              </a:rPr>
              <a:t>Risques liés au manque de sécurité + multiplication des efforts (programmes similaires écrits dans différents services pour des besoins proches).</a:t>
            </a:r>
          </a:p>
          <a:p>
            <a:pPr marL="0" indent="0" algn="just">
              <a:buNone/>
            </a:pPr>
            <a:endParaRPr lang="fr-FR" sz="1800" dirty="0" smtClean="0">
              <a:latin typeface="Times New Roman" pitchFamily="18" charset="0"/>
              <a:cs typeface="Times New Roman" pitchFamily="18" charset="0"/>
            </a:endParaRPr>
          </a:p>
          <a:p>
            <a:pPr marL="0" indent="0" algn="just"/>
            <a:r>
              <a:rPr lang="fr-FR" sz="1800" dirty="0" smtClean="0">
                <a:latin typeface="Times New Roman" pitchFamily="18" charset="0"/>
                <a:cs typeface="Times New Roman" pitchFamily="18" charset="0"/>
              </a:rPr>
              <a:t>Conséquences :</a:t>
            </a:r>
          </a:p>
          <a:p>
            <a:pPr marL="0" indent="0" algn="just">
              <a:buNone/>
            </a:pPr>
            <a:endParaRPr lang="fr-FR" sz="1800" dirty="0" smtClean="0">
              <a:latin typeface="Times New Roman" pitchFamily="18" charset="0"/>
              <a:cs typeface="Times New Roman" pitchFamily="18" charset="0"/>
            </a:endParaRPr>
          </a:p>
          <a:p>
            <a:pPr marL="0" indent="0" algn="just">
              <a:buFontTx/>
              <a:buChar char="-"/>
            </a:pPr>
            <a:r>
              <a:rPr lang="fr-FR" sz="1800" b="1" dirty="0" smtClean="0">
                <a:latin typeface="Times New Roman" pitchFamily="18" charset="0"/>
                <a:cs typeface="Times New Roman" pitchFamily="18" charset="0"/>
              </a:rPr>
              <a:t>redondances</a:t>
            </a:r>
            <a:r>
              <a:rPr lang="fr-FR" sz="1800" dirty="0" smtClean="0">
                <a:latin typeface="Times New Roman" pitchFamily="18" charset="0"/>
                <a:cs typeface="Times New Roman" pitchFamily="18" charset="0"/>
              </a:rPr>
              <a:t> : fichiers contenant les mêmes données, mais utilisées par des personnes différentes,</a:t>
            </a:r>
          </a:p>
          <a:p>
            <a:pPr marL="0" indent="0" algn="just">
              <a:buFontTx/>
              <a:buChar char="-"/>
            </a:pPr>
            <a:endParaRPr lang="fr-FR" sz="1800" dirty="0" smtClean="0">
              <a:latin typeface="Times New Roman" pitchFamily="18" charset="0"/>
              <a:cs typeface="Times New Roman" pitchFamily="18" charset="0"/>
            </a:endParaRPr>
          </a:p>
          <a:p>
            <a:pPr marL="0" indent="0" algn="just">
              <a:buFontTx/>
              <a:buChar char="-"/>
            </a:pPr>
            <a:r>
              <a:rPr lang="fr-FR" sz="1800" b="1" dirty="0" smtClean="0">
                <a:latin typeface="Times New Roman" pitchFamily="18" charset="0"/>
                <a:cs typeface="Times New Roman" pitchFamily="18" charset="0"/>
              </a:rPr>
              <a:t>risque d’incohérences </a:t>
            </a:r>
            <a:r>
              <a:rPr lang="fr-FR" sz="1800" dirty="0" smtClean="0">
                <a:latin typeface="Times New Roman" pitchFamily="18" charset="0"/>
                <a:cs typeface="Times New Roman" pitchFamily="18" charset="0"/>
              </a:rPr>
              <a:t>: du fait des redondances et des MAJ non centralisées (ex: adresse d’un fournisseur)</a:t>
            </a:r>
          </a:p>
          <a:p>
            <a:pPr algn="just">
              <a:buFontTx/>
              <a:buChar char="-"/>
            </a:pPr>
            <a:endParaRPr lang="fr-FR" sz="1800" dirty="0" smtClean="0">
              <a:latin typeface="Times New Roman" pitchFamily="18" charset="0"/>
              <a:cs typeface="Times New Roman" pitchFamily="18" charset="0"/>
            </a:endParaRPr>
          </a:p>
        </p:txBody>
      </p:sp>
    </p:spTree>
  </p:cSld>
  <p:clrMapOvr>
    <a:masterClrMapping/>
  </p:clrMapOvr>
  <p:transition>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a:xfrm>
            <a:off x="214282" y="285728"/>
            <a:ext cx="8572560" cy="5214974"/>
          </a:xfrm>
        </p:spPr>
        <p:txBody>
          <a:bodyPr>
            <a:noAutofit/>
          </a:bodyPr>
          <a:lstStyle/>
          <a:p>
            <a:pPr algn="just">
              <a:buFontTx/>
              <a:buChar char="-"/>
            </a:pPr>
            <a:r>
              <a:rPr lang="fr-FR" sz="1800" b="1" dirty="0" smtClean="0">
                <a:latin typeface="Times New Roman" pitchFamily="18" charset="0"/>
                <a:cs typeface="Times New Roman" pitchFamily="18" charset="0"/>
              </a:rPr>
              <a:t>intégrité des données : </a:t>
            </a:r>
            <a:r>
              <a:rPr lang="fr-FR" sz="1800" dirty="0" smtClean="0">
                <a:latin typeface="Times New Roman" pitchFamily="18" charset="0"/>
                <a:cs typeface="Times New Roman" pitchFamily="18" charset="0"/>
              </a:rPr>
              <a:t>respect de contraintes qui peuvent être programmées (ex: contrôles sur date de naissance, sur code </a:t>
            </a:r>
            <a:r>
              <a:rPr lang="fr-FR" sz="1800" dirty="0" err="1" smtClean="0">
                <a:latin typeface="Times New Roman" pitchFamily="18" charset="0"/>
                <a:cs typeface="Times New Roman" pitchFamily="18" charset="0"/>
              </a:rPr>
              <a:t>pôstal</a:t>
            </a:r>
            <a:r>
              <a:rPr lang="fr-FR" sz="1800" dirty="0" smtClean="0">
                <a:latin typeface="Times New Roman" pitchFamily="18" charset="0"/>
                <a:cs typeface="Times New Roman" pitchFamily="18" charset="0"/>
              </a:rPr>
              <a:t>, numéro de tél., ...),</a:t>
            </a:r>
          </a:p>
          <a:p>
            <a:pPr algn="just">
              <a:buFontTx/>
              <a:buChar char="-"/>
            </a:pPr>
            <a:r>
              <a:rPr lang="fr-FR" sz="1800" b="1" dirty="0" err="1" smtClean="0">
                <a:latin typeface="Times New Roman" pitchFamily="18" charset="0"/>
                <a:cs typeface="Times New Roman" pitchFamily="18" charset="0"/>
              </a:rPr>
              <a:t>pbs</a:t>
            </a:r>
            <a:r>
              <a:rPr lang="fr-FR" sz="1800" b="1" dirty="0" smtClean="0">
                <a:latin typeface="Times New Roman" pitchFamily="18" charset="0"/>
                <a:cs typeface="Times New Roman" pitchFamily="18" charset="0"/>
              </a:rPr>
              <a:t> liés à la sécurité : </a:t>
            </a:r>
            <a:r>
              <a:rPr lang="fr-FR" sz="1800" dirty="0" smtClean="0">
                <a:latin typeface="Times New Roman" pitchFamily="18" charset="0"/>
                <a:cs typeface="Times New Roman" pitchFamily="18" charset="0"/>
              </a:rPr>
              <a:t>utilisateurs de différents niveaux d’expérience et avec différents droits d’accès =&gt; mots de passe,</a:t>
            </a:r>
          </a:p>
          <a:p>
            <a:pPr algn="just">
              <a:buFontTx/>
              <a:buChar char="-"/>
            </a:pPr>
            <a:r>
              <a:rPr lang="fr-FR" sz="1800" b="1" dirty="0" err="1" smtClean="0">
                <a:latin typeface="Times New Roman" pitchFamily="18" charset="0"/>
                <a:cs typeface="Times New Roman" pitchFamily="18" charset="0"/>
              </a:rPr>
              <a:t>pbs</a:t>
            </a:r>
            <a:r>
              <a:rPr lang="fr-FR" sz="1800" b="1" dirty="0" smtClean="0">
                <a:latin typeface="Times New Roman" pitchFamily="18" charset="0"/>
                <a:cs typeface="Times New Roman" pitchFamily="18" charset="0"/>
              </a:rPr>
              <a:t> liés au partage des données : </a:t>
            </a:r>
            <a:r>
              <a:rPr lang="fr-FR" sz="1800" dirty="0" smtClean="0">
                <a:latin typeface="Times New Roman" pitchFamily="18" charset="0"/>
                <a:cs typeface="Times New Roman" pitchFamily="18" charset="0"/>
              </a:rPr>
              <a:t>accès en lecture / écriture.</a:t>
            </a:r>
          </a:p>
          <a:p>
            <a:pPr algn="just">
              <a:buFontTx/>
              <a:buChar char="-"/>
            </a:pPr>
            <a:endParaRPr lang="fr-FR" sz="1800" b="1" dirty="0" smtClean="0">
              <a:latin typeface="Times New Roman" pitchFamily="18" charset="0"/>
              <a:cs typeface="Times New Roman" pitchFamily="18" charset="0"/>
            </a:endParaRPr>
          </a:p>
          <a:p>
            <a:pPr algn="just">
              <a:buNone/>
            </a:pPr>
            <a:r>
              <a:rPr lang="fr-FR" sz="2400" b="1" dirty="0" smtClean="0">
                <a:solidFill>
                  <a:schemeClr val="accent1"/>
                </a:solidFill>
                <a:latin typeface="Times New Roman" pitchFamily="18" charset="0"/>
                <a:cs typeface="Times New Roman" pitchFamily="18" charset="0"/>
              </a:rPr>
              <a:t>Niveaux d’abstraction</a:t>
            </a:r>
          </a:p>
          <a:p>
            <a:pPr marL="87313" indent="-4763" algn="just">
              <a:buNone/>
            </a:pPr>
            <a:r>
              <a:rPr lang="fr-FR" sz="1800" dirty="0" smtClean="0">
                <a:latin typeface="Times New Roman" pitchFamily="18" charset="0"/>
                <a:cs typeface="Times New Roman" pitchFamily="18" charset="0"/>
              </a:rPr>
              <a:t>On a coutume de distinguer plusieurs niveaux de représentation ou d’abstraction pour les bases de données et les systèmes d’information de manière plus générale :</a:t>
            </a:r>
          </a:p>
          <a:p>
            <a:pPr algn="just"/>
            <a:r>
              <a:rPr lang="fr-FR" sz="1800" dirty="0" smtClean="0">
                <a:latin typeface="Times New Roman" pitchFamily="18" charset="0"/>
                <a:cs typeface="Times New Roman" pitchFamily="18" charset="0"/>
              </a:rPr>
              <a:t> le niveau externe (utilisateur) -&gt; </a:t>
            </a:r>
            <a:r>
              <a:rPr lang="fr-FR" sz="1800" b="1" dirty="0" smtClean="0">
                <a:latin typeface="Times New Roman" pitchFamily="18" charset="0"/>
                <a:cs typeface="Times New Roman" pitchFamily="18" charset="0"/>
              </a:rPr>
              <a:t>vues</a:t>
            </a:r>
          </a:p>
          <a:p>
            <a:pPr algn="just"/>
            <a:r>
              <a:rPr lang="fr-FR" sz="1800" dirty="0" smtClean="0">
                <a:latin typeface="Times New Roman" pitchFamily="18" charset="0"/>
                <a:cs typeface="Times New Roman" pitchFamily="18" charset="0"/>
              </a:rPr>
              <a:t> le niveau conceptuel (concepteur, administrateur) -&gt; </a:t>
            </a:r>
            <a:r>
              <a:rPr lang="fr-FR" sz="1800" b="1" dirty="0" smtClean="0">
                <a:latin typeface="Times New Roman" pitchFamily="18" charset="0"/>
                <a:cs typeface="Times New Roman" pitchFamily="18" charset="0"/>
              </a:rPr>
              <a:t>modèles de données</a:t>
            </a:r>
          </a:p>
          <a:p>
            <a:pPr algn="just"/>
            <a:r>
              <a:rPr lang="fr-FR" sz="1800" dirty="0" smtClean="0">
                <a:latin typeface="Times New Roman" pitchFamily="18" charset="0"/>
                <a:cs typeface="Times New Roman" pitchFamily="18" charset="0"/>
              </a:rPr>
              <a:t> le niveau interne (stockage) -&gt; </a:t>
            </a:r>
            <a:r>
              <a:rPr lang="fr-FR" sz="1800" b="1" dirty="0" smtClean="0">
                <a:latin typeface="Times New Roman" pitchFamily="18" charset="0"/>
                <a:cs typeface="Times New Roman" pitchFamily="18" charset="0"/>
              </a:rPr>
              <a:t>structures de données (fichiers, index)</a:t>
            </a:r>
            <a:endParaRPr lang="fr-FR" sz="1800" dirty="0" smtClean="0">
              <a:latin typeface="Times New Roman" pitchFamily="18" charset="0"/>
              <a:cs typeface="Times New Roman" pitchFamily="18" charset="0"/>
            </a:endParaRPr>
          </a:p>
          <a:p>
            <a:pPr algn="just"/>
            <a:endParaRPr lang="fr-FR" sz="1800" dirty="0">
              <a:latin typeface="Times New Roman" pitchFamily="18" charset="0"/>
              <a:cs typeface="Times New Roman" pitchFamily="18" charset="0"/>
            </a:endParaRPr>
          </a:p>
        </p:txBody>
      </p:sp>
      <p:pic>
        <p:nvPicPr>
          <p:cNvPr id="3074" name="Picture 2" descr="C:\Users\Miharantsoa\Desktop\m1q2.png"/>
          <p:cNvPicPr>
            <a:picLocks noChangeAspect="1" noChangeArrowheads="1"/>
          </p:cNvPicPr>
          <p:nvPr/>
        </p:nvPicPr>
        <p:blipFill>
          <a:blip r:embed="rId2" cstate="print"/>
          <a:srcRect/>
          <a:stretch>
            <a:fillRect/>
          </a:stretch>
        </p:blipFill>
        <p:spPr bwMode="auto">
          <a:xfrm>
            <a:off x="2285984" y="4214818"/>
            <a:ext cx="6511917" cy="2293930"/>
          </a:xfrm>
          <a:prstGeom prst="rect">
            <a:avLst/>
          </a:prstGeom>
          <a:noFill/>
        </p:spPr>
      </p:pic>
    </p:spTree>
  </p:cSld>
  <p:clrMapOvr>
    <a:masterClrMapping/>
  </p:clrMapOvr>
  <p:transition>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5720" y="357166"/>
            <a:ext cx="8643998" cy="6001643"/>
          </a:xfrm>
          <a:prstGeom prst="rect">
            <a:avLst/>
          </a:prstGeom>
        </p:spPr>
        <p:txBody>
          <a:bodyPr wrap="square">
            <a:spAutoFit/>
          </a:bodyPr>
          <a:lstStyle/>
          <a:p>
            <a:pPr algn="just"/>
            <a:r>
              <a:rPr lang="fr-FR" sz="2400" b="1" dirty="0" smtClean="0">
                <a:solidFill>
                  <a:schemeClr val="accent1"/>
                </a:solidFill>
                <a:latin typeface="Times New Roman" pitchFamily="18" charset="0"/>
                <a:cs typeface="Times New Roman" pitchFamily="18" charset="0"/>
              </a:rPr>
              <a:t>Le niveau externe</a:t>
            </a:r>
          </a:p>
          <a:p>
            <a:pPr algn="just"/>
            <a:endParaRPr lang="fr-FR" sz="2400" b="1" dirty="0" smtClean="0">
              <a:solidFill>
                <a:schemeClr val="accent1"/>
              </a:solidFill>
              <a:latin typeface="Times New Roman" pitchFamily="18" charset="0"/>
              <a:cs typeface="Times New Roman" pitchFamily="18" charset="0"/>
            </a:endParaRPr>
          </a:p>
          <a:p>
            <a:pPr algn="just"/>
            <a:r>
              <a:rPr lang="fr-FR" dirty="0" smtClean="0">
                <a:latin typeface="Times New Roman" pitchFamily="18" charset="0"/>
                <a:cs typeface="Times New Roman" pitchFamily="18" charset="0"/>
              </a:rPr>
              <a:t>Le concept de </a:t>
            </a:r>
            <a:r>
              <a:rPr lang="fr-FR" b="1" i="1" dirty="0" smtClean="0">
                <a:latin typeface="Times New Roman" pitchFamily="18" charset="0"/>
                <a:cs typeface="Times New Roman" pitchFamily="18" charset="0"/>
              </a:rPr>
              <a:t>vue permet d'obtenir l'indépendance </a:t>
            </a:r>
            <a:r>
              <a:rPr lang="fr-FR" dirty="0" smtClean="0">
                <a:latin typeface="Times New Roman" pitchFamily="18" charset="0"/>
                <a:cs typeface="Times New Roman" pitchFamily="18" charset="0"/>
              </a:rPr>
              <a:t>logique. La modification du schéma logique n’entraîne pas la modification des applications (une modification des vues est cependant nécessaire).</a:t>
            </a:r>
          </a:p>
          <a:p>
            <a:endParaRPr lang="fr-FR" dirty="0" smtClean="0">
              <a:latin typeface="Times New Roman" pitchFamily="18" charset="0"/>
              <a:cs typeface="Times New Roman" pitchFamily="18" charset="0"/>
            </a:endParaRPr>
          </a:p>
          <a:p>
            <a:pPr algn="just"/>
            <a:r>
              <a:rPr lang="fr-FR" dirty="0" smtClean="0">
                <a:latin typeface="Times New Roman" pitchFamily="18" charset="0"/>
                <a:cs typeface="Times New Roman" pitchFamily="18" charset="0"/>
              </a:rPr>
              <a:t>Chaque vue correspond à la perception d’une partie des données, mais aussi des données qui peuvent être synthétisées à partir des informations représentées dans la BD (par ex. statistiques).</a:t>
            </a:r>
          </a:p>
          <a:p>
            <a:pPr algn="just"/>
            <a:endParaRPr lang="fr-FR" dirty="0" smtClean="0">
              <a:latin typeface="Times New Roman" pitchFamily="18" charset="0"/>
              <a:cs typeface="Times New Roman" pitchFamily="18" charset="0"/>
            </a:endParaRPr>
          </a:p>
          <a:p>
            <a:pPr algn="just"/>
            <a:r>
              <a:rPr lang="fr-FR" sz="2400" b="1" dirty="0" smtClean="0">
                <a:solidFill>
                  <a:schemeClr val="accent1"/>
                </a:solidFill>
                <a:latin typeface="Times New Roman" pitchFamily="18" charset="0"/>
                <a:cs typeface="Times New Roman" pitchFamily="18" charset="0"/>
              </a:rPr>
              <a:t>Le niveau conceptuel</a:t>
            </a:r>
          </a:p>
          <a:p>
            <a:pPr algn="just"/>
            <a:endParaRPr lang="fr-FR" sz="2400" b="1" dirty="0" smtClean="0">
              <a:solidFill>
                <a:schemeClr val="accent1"/>
              </a:solidFill>
              <a:latin typeface="Times New Roman" pitchFamily="18" charset="0"/>
              <a:cs typeface="Times New Roman" pitchFamily="18" charset="0"/>
            </a:endParaRPr>
          </a:p>
          <a:p>
            <a:pPr algn="just"/>
            <a:r>
              <a:rPr lang="fr-FR" dirty="0" smtClean="0">
                <a:latin typeface="Times New Roman" pitchFamily="18" charset="0"/>
                <a:cs typeface="Times New Roman" pitchFamily="18" charset="0"/>
              </a:rPr>
              <a:t>Il contient la description des données et des contraintes d’intégrité (Dictionnaire de Données) le schéma logique découle d’une activité de modélisation.</a:t>
            </a:r>
          </a:p>
          <a:p>
            <a:pPr algn="just"/>
            <a:endParaRPr lang="fr-FR" b="1" dirty="0" smtClean="0">
              <a:solidFill>
                <a:schemeClr val="accent1"/>
              </a:solidFill>
              <a:latin typeface="Times New Roman" pitchFamily="18" charset="0"/>
              <a:cs typeface="Times New Roman" pitchFamily="18" charset="0"/>
            </a:endParaRPr>
          </a:p>
          <a:p>
            <a:pPr algn="just"/>
            <a:r>
              <a:rPr lang="fr-FR" sz="2400" b="1" dirty="0" smtClean="0">
                <a:solidFill>
                  <a:schemeClr val="accent1"/>
                </a:solidFill>
                <a:latin typeface="Times New Roman" pitchFamily="18" charset="0"/>
                <a:cs typeface="Times New Roman" pitchFamily="18" charset="0"/>
              </a:rPr>
              <a:t>Le niveau interne</a:t>
            </a:r>
          </a:p>
          <a:p>
            <a:endParaRPr lang="fr-FR" sz="2400" b="1" dirty="0" smtClean="0">
              <a:solidFill>
                <a:schemeClr val="accent1"/>
              </a:solidFill>
              <a:latin typeface="Times New Roman" pitchFamily="18" charset="0"/>
              <a:cs typeface="Times New Roman" pitchFamily="18" charset="0"/>
            </a:endParaRPr>
          </a:p>
          <a:p>
            <a:r>
              <a:rPr lang="fr-FR" dirty="0" smtClean="0">
                <a:latin typeface="Times New Roman" pitchFamily="18" charset="0"/>
                <a:cs typeface="Times New Roman" pitchFamily="18" charset="0"/>
              </a:rPr>
              <a:t>Il correspond aux structures de stockage et aux moyens d’</a:t>
            </a:r>
            <a:r>
              <a:rPr lang="fr-FR" dirty="0" err="1" smtClean="0">
                <a:latin typeface="Times New Roman" pitchFamily="18" charset="0"/>
                <a:cs typeface="Times New Roman" pitchFamily="18" charset="0"/>
              </a:rPr>
              <a:t>accés</a:t>
            </a:r>
            <a:r>
              <a:rPr lang="fr-FR" dirty="0" smtClean="0">
                <a:latin typeface="Times New Roman" pitchFamily="18" charset="0"/>
                <a:cs typeface="Times New Roman" pitchFamily="18" charset="0"/>
              </a:rPr>
              <a:t> (index).</a:t>
            </a:r>
            <a:endParaRPr lang="fr-FR" b="1" dirty="0" smtClean="0">
              <a:solidFill>
                <a:schemeClr val="accent1"/>
              </a:solidFill>
              <a:latin typeface="Times New Roman" pitchFamily="18" charset="0"/>
              <a:cs typeface="Times New Roman" pitchFamily="18" charset="0"/>
            </a:endParaRPr>
          </a:p>
          <a:p>
            <a:pPr algn="just"/>
            <a:endParaRPr lang="fr-FR" sz="2400" b="1" dirty="0">
              <a:solidFill>
                <a:schemeClr val="accent1"/>
              </a:solidFill>
              <a:latin typeface="Times New Roman" pitchFamily="18" charset="0"/>
              <a:cs typeface="Times New Roman" pitchFamily="18" charset="0"/>
            </a:endParaRPr>
          </a:p>
        </p:txBody>
      </p:sp>
    </p:spTree>
  </p:cSld>
  <p:clrMapOvr>
    <a:masterClrMapping/>
  </p:clrMapOvr>
  <p:transition>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a:xfrm>
            <a:off x="285720" y="142852"/>
            <a:ext cx="5857916" cy="5143536"/>
          </a:xfrm>
        </p:spPr>
        <p:txBody>
          <a:bodyPr>
            <a:noAutofit/>
          </a:bodyPr>
          <a:lstStyle/>
          <a:p>
            <a:pPr>
              <a:buNone/>
            </a:pPr>
            <a:r>
              <a:rPr lang="fr-FR" sz="2400" b="1" dirty="0" smtClean="0">
                <a:solidFill>
                  <a:schemeClr val="accent1"/>
                </a:solidFill>
                <a:latin typeface="Times New Roman" pitchFamily="18" charset="0"/>
                <a:cs typeface="Times New Roman" pitchFamily="18" charset="0"/>
              </a:rPr>
              <a:t>Fonctions liées à l’exploitation des SGBD</a:t>
            </a:r>
          </a:p>
          <a:p>
            <a:endParaRPr lang="fr-FR" sz="1800" b="1" dirty="0" smtClean="0">
              <a:latin typeface="Times New Roman" pitchFamily="18" charset="0"/>
              <a:cs typeface="Times New Roman" pitchFamily="18" charset="0"/>
            </a:endParaRPr>
          </a:p>
          <a:p>
            <a:pPr>
              <a:buNone/>
            </a:pPr>
            <a:r>
              <a:rPr lang="fr-FR" sz="2000" b="1" dirty="0" smtClean="0">
                <a:latin typeface="Times New Roman" pitchFamily="18" charset="0"/>
                <a:cs typeface="Times New Roman" pitchFamily="18" charset="0"/>
              </a:rPr>
              <a:t>Administrateur de bases de données</a:t>
            </a:r>
          </a:p>
          <a:p>
            <a:r>
              <a:rPr lang="fr-FR" sz="1800" dirty="0" smtClean="0">
                <a:latin typeface="Times New Roman" pitchFamily="18" charset="0"/>
                <a:cs typeface="Times New Roman" pitchFamily="18" charset="0"/>
              </a:rPr>
              <a:t>analyse fonctionnelle</a:t>
            </a:r>
          </a:p>
          <a:p>
            <a:r>
              <a:rPr lang="fr-FR" sz="1800" dirty="0" smtClean="0">
                <a:latin typeface="Times New Roman" pitchFamily="18" charset="0"/>
                <a:cs typeface="Times New Roman" pitchFamily="18" charset="0"/>
              </a:rPr>
              <a:t>définition du schéma conceptuel</a:t>
            </a:r>
          </a:p>
          <a:p>
            <a:r>
              <a:rPr lang="fr-FR" sz="1800" dirty="0" smtClean="0">
                <a:latin typeface="Times New Roman" pitchFamily="18" charset="0"/>
                <a:cs typeface="Times New Roman" pitchFamily="18" charset="0"/>
              </a:rPr>
              <a:t>choix des méthodes de stockage et d’accès</a:t>
            </a:r>
          </a:p>
          <a:p>
            <a:r>
              <a:rPr lang="fr-FR" sz="1800" dirty="0" smtClean="0">
                <a:latin typeface="Times New Roman" pitchFamily="18" charset="0"/>
                <a:cs typeface="Times New Roman" pitchFamily="18" charset="0"/>
              </a:rPr>
              <a:t>modification de l’organisation conceptuelle / physique</a:t>
            </a:r>
          </a:p>
          <a:p>
            <a:r>
              <a:rPr lang="fr-FR" sz="1800" dirty="0" smtClean="0">
                <a:latin typeface="Times New Roman" pitchFamily="18" charset="0"/>
                <a:cs typeface="Times New Roman" pitchFamily="18" charset="0"/>
              </a:rPr>
              <a:t>gestion des droits d’accès</a:t>
            </a:r>
          </a:p>
          <a:p>
            <a:r>
              <a:rPr lang="fr-FR" sz="1800" dirty="0" smtClean="0">
                <a:latin typeface="Times New Roman" pitchFamily="18" charset="0"/>
                <a:cs typeface="Times New Roman" pitchFamily="18" charset="0"/>
              </a:rPr>
              <a:t>spécification des contraintes d’intégrité</a:t>
            </a:r>
          </a:p>
          <a:p>
            <a:endParaRPr lang="fr-FR" sz="1800" dirty="0" smtClean="0">
              <a:latin typeface="Times New Roman" pitchFamily="18" charset="0"/>
              <a:cs typeface="Times New Roman" pitchFamily="18" charset="0"/>
            </a:endParaRPr>
          </a:p>
          <a:p>
            <a:pPr>
              <a:buNone/>
            </a:pPr>
            <a:r>
              <a:rPr lang="fr-FR" sz="2000" b="1" dirty="0" smtClean="0">
                <a:latin typeface="Times New Roman" pitchFamily="18" charset="0"/>
                <a:cs typeface="Times New Roman" pitchFamily="18" charset="0"/>
              </a:rPr>
              <a:t>Classes d’utilisateurs</a:t>
            </a:r>
          </a:p>
          <a:p>
            <a:r>
              <a:rPr lang="fr-FR" sz="1800" dirty="0" smtClean="0">
                <a:latin typeface="Times New Roman" pitchFamily="18" charset="0"/>
                <a:cs typeface="Times New Roman" pitchFamily="18" charset="0"/>
              </a:rPr>
              <a:t>utilisateurs occasionnels (programmes d’application)</a:t>
            </a:r>
          </a:p>
          <a:p>
            <a:r>
              <a:rPr lang="fr-FR" sz="1800" dirty="0" smtClean="0">
                <a:latin typeface="Times New Roman" pitchFamily="18" charset="0"/>
                <a:cs typeface="Times New Roman" pitchFamily="18" charset="0"/>
              </a:rPr>
              <a:t>utilisateurs experts (SQL)</a:t>
            </a:r>
          </a:p>
          <a:p>
            <a:r>
              <a:rPr lang="fr-FR" sz="1800" dirty="0" smtClean="0">
                <a:latin typeface="Times New Roman" pitchFamily="18" charset="0"/>
                <a:cs typeface="Times New Roman" pitchFamily="18" charset="0"/>
              </a:rPr>
              <a:t>programmeurs d’applications (SQL + langage de programmation “hôte”)</a:t>
            </a:r>
            <a:endParaRPr lang="fr-FR" sz="1800" dirty="0">
              <a:latin typeface="Times New Roman" pitchFamily="18" charset="0"/>
              <a:cs typeface="Times New Roman" pitchFamily="18" charset="0"/>
            </a:endParaRPr>
          </a:p>
        </p:txBody>
      </p:sp>
      <p:pic>
        <p:nvPicPr>
          <p:cNvPr id="4098" name="Picture 2" descr="C:\Users\Miharantsoa\Desktop\mysql1.jpg"/>
          <p:cNvPicPr>
            <a:picLocks noChangeAspect="1" noChangeArrowheads="1"/>
          </p:cNvPicPr>
          <p:nvPr/>
        </p:nvPicPr>
        <p:blipFill>
          <a:blip r:embed="rId2" cstate="print"/>
          <a:srcRect/>
          <a:stretch>
            <a:fillRect/>
          </a:stretch>
        </p:blipFill>
        <p:spPr bwMode="auto">
          <a:xfrm>
            <a:off x="5286380" y="4286256"/>
            <a:ext cx="3714776" cy="2381250"/>
          </a:xfrm>
          <a:prstGeom prst="rect">
            <a:avLst/>
          </a:prstGeom>
          <a:noFill/>
        </p:spPr>
      </p:pic>
    </p:spTree>
  </p:cSld>
  <p:clrMapOvr>
    <a:masterClrMapping/>
  </p:clrMapOvr>
  <p:transition>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a:xfrm>
            <a:off x="214282" y="357166"/>
            <a:ext cx="8229600" cy="5072098"/>
          </a:xfrm>
        </p:spPr>
        <p:txBody>
          <a:bodyPr>
            <a:normAutofit lnSpcReduction="10000"/>
          </a:bodyPr>
          <a:lstStyle/>
          <a:p>
            <a:pPr algn="just">
              <a:buNone/>
            </a:pPr>
            <a:r>
              <a:rPr lang="fr-FR" sz="2400" b="1" dirty="0" smtClean="0">
                <a:solidFill>
                  <a:schemeClr val="accent1"/>
                </a:solidFill>
                <a:latin typeface="Times New Roman" pitchFamily="18" charset="0"/>
                <a:cs typeface="Times New Roman" pitchFamily="18" charset="0"/>
              </a:rPr>
              <a:t>Multiplicité des types de données</a:t>
            </a:r>
          </a:p>
          <a:p>
            <a:pPr algn="just">
              <a:buNone/>
            </a:pPr>
            <a:r>
              <a:rPr lang="fr-FR" sz="1800" dirty="0" smtClean="0">
                <a:latin typeface="Times New Roman" pitchFamily="18" charset="0"/>
                <a:cs typeface="Times New Roman" pitchFamily="18" charset="0"/>
              </a:rPr>
              <a:t>Une base de données moderne peut contenir :</a:t>
            </a:r>
          </a:p>
          <a:p>
            <a:pPr marL="531813" indent="-9525" algn="just"/>
            <a:r>
              <a:rPr lang="fr-FR" sz="1800" dirty="0" smtClean="0">
                <a:latin typeface="Times New Roman" pitchFamily="18" charset="0"/>
                <a:cs typeface="Times New Roman" pitchFamily="18" charset="0"/>
              </a:rPr>
              <a:t> des données </a:t>
            </a:r>
            <a:r>
              <a:rPr lang="fr-FR" sz="1800" b="1" dirty="0" smtClean="0">
                <a:latin typeface="Times New Roman" pitchFamily="18" charset="0"/>
                <a:cs typeface="Times New Roman" pitchFamily="18" charset="0"/>
              </a:rPr>
              <a:t>multimédias,</a:t>
            </a:r>
          </a:p>
          <a:p>
            <a:pPr marL="531813" indent="-9525" algn="just"/>
            <a:r>
              <a:rPr lang="fr-FR" sz="1800" dirty="0" smtClean="0">
                <a:latin typeface="Times New Roman" pitchFamily="18" charset="0"/>
                <a:cs typeface="Times New Roman" pitchFamily="18" charset="0"/>
              </a:rPr>
              <a:t> des données </a:t>
            </a:r>
            <a:r>
              <a:rPr lang="fr-FR" sz="1800" b="1" dirty="0" smtClean="0">
                <a:latin typeface="Times New Roman" pitchFamily="18" charset="0"/>
                <a:cs typeface="Times New Roman" pitchFamily="18" charset="0"/>
              </a:rPr>
              <a:t>textuelles,</a:t>
            </a:r>
          </a:p>
          <a:p>
            <a:pPr marL="531813" indent="-9525" algn="just"/>
            <a:r>
              <a:rPr lang="fr-FR" sz="1800" dirty="0" smtClean="0">
                <a:latin typeface="Times New Roman" pitchFamily="18" charset="0"/>
                <a:cs typeface="Times New Roman" pitchFamily="18" charset="0"/>
              </a:rPr>
              <a:t> des données </a:t>
            </a:r>
            <a:r>
              <a:rPr lang="fr-FR" sz="1800" b="1" dirty="0" smtClean="0">
                <a:latin typeface="Times New Roman" pitchFamily="18" charset="0"/>
                <a:cs typeface="Times New Roman" pitchFamily="18" charset="0"/>
              </a:rPr>
              <a:t>spatiales (données GPS par exemple),</a:t>
            </a:r>
          </a:p>
          <a:p>
            <a:pPr marL="531813" indent="-9525" algn="just"/>
            <a:r>
              <a:rPr lang="fr-FR" sz="1800" dirty="0" smtClean="0">
                <a:latin typeface="Times New Roman" pitchFamily="18" charset="0"/>
                <a:cs typeface="Times New Roman" pitchFamily="18" charset="0"/>
              </a:rPr>
              <a:t> des données </a:t>
            </a:r>
            <a:r>
              <a:rPr lang="fr-FR" sz="1800" b="1" dirty="0" smtClean="0">
                <a:latin typeface="Times New Roman" pitchFamily="18" charset="0"/>
                <a:cs typeface="Times New Roman" pitchFamily="18" charset="0"/>
              </a:rPr>
              <a:t>historiques (plusieurs lignes par entité),</a:t>
            </a:r>
          </a:p>
          <a:p>
            <a:pPr marL="531813" indent="-9525" algn="just"/>
            <a:r>
              <a:rPr lang="fr-FR" sz="1800" dirty="0" smtClean="0">
                <a:latin typeface="Times New Roman" pitchFamily="18" charset="0"/>
                <a:cs typeface="Times New Roman" pitchFamily="18" charset="0"/>
              </a:rPr>
              <a:t> des données </a:t>
            </a:r>
            <a:r>
              <a:rPr lang="fr-FR" sz="1800" b="1" dirty="0" smtClean="0">
                <a:latin typeface="Times New Roman" pitchFamily="18" charset="0"/>
                <a:cs typeface="Times New Roman" pitchFamily="18" charset="0"/>
              </a:rPr>
              <a:t>semi-structurées.</a:t>
            </a:r>
          </a:p>
          <a:p>
            <a:pPr algn="just"/>
            <a:endParaRPr lang="fr-FR" sz="1800" b="1" dirty="0" smtClean="0">
              <a:latin typeface="Times New Roman" pitchFamily="18" charset="0"/>
              <a:cs typeface="Times New Roman" pitchFamily="18" charset="0"/>
            </a:endParaRPr>
          </a:p>
          <a:p>
            <a:pPr algn="just">
              <a:buNone/>
            </a:pPr>
            <a:r>
              <a:rPr lang="fr-FR" sz="2400" b="1" dirty="0" smtClean="0">
                <a:solidFill>
                  <a:schemeClr val="accent1"/>
                </a:solidFill>
                <a:latin typeface="Times New Roman" pitchFamily="18" charset="0"/>
                <a:cs typeface="Times New Roman" pitchFamily="18" charset="0"/>
              </a:rPr>
              <a:t>Volumes et performances</a:t>
            </a:r>
          </a:p>
          <a:p>
            <a:pPr marL="182563" indent="-4763" algn="just">
              <a:buNone/>
            </a:pPr>
            <a:r>
              <a:rPr lang="fr-FR" sz="1800" dirty="0" smtClean="0">
                <a:latin typeface="Times New Roman" pitchFamily="18" charset="0"/>
                <a:cs typeface="Times New Roman" pitchFamily="18" charset="0"/>
              </a:rPr>
              <a:t>Une base de données peut contenir des dizaines de milliers de tables, des </a:t>
            </a:r>
            <a:r>
              <a:rPr lang="fr-FR" sz="1800" b="1" dirty="0" smtClean="0">
                <a:latin typeface="Times New Roman" pitchFamily="18" charset="0"/>
                <a:cs typeface="Times New Roman" pitchFamily="18" charset="0"/>
              </a:rPr>
              <a:t>milliards de lignes.</a:t>
            </a:r>
          </a:p>
          <a:p>
            <a:pPr algn="just"/>
            <a:endParaRPr lang="fr-FR" sz="1800" b="1" dirty="0" smtClean="0">
              <a:latin typeface="Times New Roman" pitchFamily="18" charset="0"/>
              <a:cs typeface="Times New Roman" pitchFamily="18" charset="0"/>
            </a:endParaRPr>
          </a:p>
          <a:p>
            <a:pPr algn="just">
              <a:buNone/>
            </a:pPr>
            <a:r>
              <a:rPr lang="fr-FR" sz="2400" b="1" dirty="0" smtClean="0">
                <a:solidFill>
                  <a:schemeClr val="accent1"/>
                </a:solidFill>
                <a:latin typeface="Times New Roman" pitchFamily="18" charset="0"/>
                <a:cs typeface="Times New Roman" pitchFamily="18" charset="0"/>
              </a:rPr>
              <a:t>Maintenance et évolution</a:t>
            </a:r>
          </a:p>
          <a:p>
            <a:pPr marL="174625" indent="-9525" algn="just">
              <a:buNone/>
            </a:pPr>
            <a:r>
              <a:rPr lang="fr-FR" sz="1800" dirty="0" smtClean="0">
                <a:latin typeface="Times New Roman" pitchFamily="18" charset="0"/>
                <a:cs typeface="Times New Roman" pitchFamily="18" charset="0"/>
              </a:rPr>
              <a:t> La structure d'une base de données peut évoluer : </a:t>
            </a:r>
            <a:r>
              <a:rPr lang="fr-FR" sz="1800" b="1" dirty="0" smtClean="0">
                <a:latin typeface="Times New Roman" pitchFamily="18" charset="0"/>
                <a:cs typeface="Times New Roman" pitchFamily="18" charset="0"/>
              </a:rPr>
              <a:t>ajouter ou supprimer une table, </a:t>
            </a:r>
            <a:r>
              <a:rPr lang="fr-FR" sz="1800" dirty="0" smtClean="0">
                <a:latin typeface="Times New Roman" pitchFamily="18" charset="0"/>
                <a:cs typeface="Times New Roman" pitchFamily="18" charset="0"/>
              </a:rPr>
              <a:t>une colonne, une contrainte.</a:t>
            </a:r>
            <a:endParaRPr lang="fr-FR" sz="1800" b="1" dirty="0" smtClean="0">
              <a:latin typeface="Times New Roman" pitchFamily="18" charset="0"/>
              <a:cs typeface="Times New Roman" pitchFamily="18" charset="0"/>
            </a:endParaRPr>
          </a:p>
        </p:txBody>
      </p:sp>
    </p:spTree>
  </p:cSld>
  <p:clrMapOvr>
    <a:masterClrMapping/>
  </p:clrMapOvr>
  <p:transition>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85720" y="500042"/>
            <a:ext cx="8072494" cy="1754326"/>
          </a:xfrm>
          <a:prstGeom prst="rect">
            <a:avLst/>
          </a:prstGeom>
        </p:spPr>
        <p:txBody>
          <a:bodyPr wrap="square">
            <a:spAutoFit/>
          </a:bodyPr>
          <a:lstStyle/>
          <a:p>
            <a:pPr algn="just">
              <a:buNone/>
            </a:pPr>
            <a:r>
              <a:rPr lang="fr-FR" b="1" dirty="0" smtClean="0">
                <a:latin typeface="Times New Roman" pitchFamily="18" charset="0"/>
                <a:cs typeface="Times New Roman" pitchFamily="18" charset="0"/>
              </a:rPr>
              <a:t>Les données distribuées et nomades</a:t>
            </a:r>
          </a:p>
          <a:p>
            <a:pPr algn="just">
              <a:buNone/>
            </a:pPr>
            <a:r>
              <a:rPr lang="fr-FR" dirty="0" smtClean="0">
                <a:latin typeface="Times New Roman" pitchFamily="18" charset="0"/>
                <a:cs typeface="Times New Roman" pitchFamily="18" charset="0"/>
              </a:rPr>
              <a:t>Une base de données peut être répartie et/ou dupliquées sur plusieurs ordinateurs répartis géographiquement.</a:t>
            </a:r>
          </a:p>
          <a:p>
            <a:pPr algn="just">
              <a:buNone/>
            </a:pPr>
            <a:endParaRPr lang="fr-FR" dirty="0" smtClean="0">
              <a:latin typeface="Times New Roman" pitchFamily="18" charset="0"/>
              <a:cs typeface="Times New Roman" pitchFamily="18" charset="0"/>
            </a:endParaRPr>
          </a:p>
          <a:p>
            <a:pPr algn="just">
              <a:buNone/>
            </a:pPr>
            <a:r>
              <a:rPr lang="fr-FR" dirty="0" smtClean="0">
                <a:latin typeface="Times New Roman" pitchFamily="18" charset="0"/>
                <a:cs typeface="Times New Roman" pitchFamily="18" charset="0"/>
              </a:rPr>
              <a:t>Certains de ceux-ci peuvent être des </a:t>
            </a:r>
            <a:r>
              <a:rPr lang="fr-FR" b="1" dirty="0" smtClean="0">
                <a:latin typeface="Times New Roman" pitchFamily="18" charset="0"/>
                <a:cs typeface="Times New Roman" pitchFamily="18" charset="0"/>
              </a:rPr>
              <a:t>appareils mobiles (embarqués, portables, </a:t>
            </a:r>
            <a:r>
              <a:rPr lang="fr-FR" i="1" dirty="0" smtClean="0">
                <a:latin typeface="Times New Roman" pitchFamily="18" charset="0"/>
                <a:cs typeface="Times New Roman" pitchFamily="18" charset="0"/>
              </a:rPr>
              <a:t>smart phones).</a:t>
            </a:r>
            <a:endParaRPr lang="fr-FR" dirty="0">
              <a:latin typeface="Times New Roman" pitchFamily="18" charset="0"/>
              <a:cs typeface="Times New Roman" pitchFamily="18" charset="0"/>
            </a:endParaRPr>
          </a:p>
        </p:txBody>
      </p:sp>
      <p:pic>
        <p:nvPicPr>
          <p:cNvPr id="5122" name="Picture 2" descr="C:\Users\Miharantsoa\Desktop\database.jpg"/>
          <p:cNvPicPr>
            <a:picLocks noChangeAspect="1" noChangeArrowheads="1"/>
          </p:cNvPicPr>
          <p:nvPr/>
        </p:nvPicPr>
        <p:blipFill>
          <a:blip r:embed="rId2" cstate="print"/>
          <a:srcRect/>
          <a:stretch>
            <a:fillRect/>
          </a:stretch>
        </p:blipFill>
        <p:spPr bwMode="auto">
          <a:xfrm>
            <a:off x="2000232" y="2428868"/>
            <a:ext cx="4381500" cy="3238500"/>
          </a:xfrm>
          <a:prstGeom prst="rect">
            <a:avLst/>
          </a:prstGeom>
          <a:noFill/>
        </p:spPr>
      </p:pic>
    </p:spTree>
  </p:cSld>
  <p:clrMapOvr>
    <a:masterClrMapping/>
  </p:clrMapOvr>
  <p:transition>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357158" y="2357430"/>
            <a:ext cx="8229600" cy="1143000"/>
          </a:xfrm>
        </p:spPr>
        <p:txBody>
          <a:bodyPr>
            <a:normAutofit fontScale="90000"/>
          </a:bodyPr>
          <a:lstStyle/>
          <a:p>
            <a:pPr algn="ctr"/>
            <a:r>
              <a:rPr lang="fr-FR" dirty="0" smtClean="0"/>
              <a:t> LANGAGE SQL(</a:t>
            </a:r>
            <a:r>
              <a:rPr lang="fr-FR" dirty="0" err="1" smtClean="0"/>
              <a:t>Structured</a:t>
            </a:r>
            <a:r>
              <a:rPr lang="fr-FR" dirty="0" smtClean="0"/>
              <a:t> </a:t>
            </a:r>
            <a:r>
              <a:rPr lang="fr-FR" dirty="0" err="1" smtClean="0"/>
              <a:t>Query</a:t>
            </a:r>
            <a:r>
              <a:rPr lang="fr-FR" dirty="0" smtClean="0"/>
              <a:t> </a:t>
            </a:r>
            <a:r>
              <a:rPr lang="fr-FR" dirty="0" err="1" smtClean="0"/>
              <a:t>Language</a:t>
            </a:r>
            <a:r>
              <a:rPr lang="fr-FR" dirty="0" smtClean="0"/>
              <a:t>)</a:t>
            </a:r>
            <a:endParaRPr lang="fr-FR" dirty="0"/>
          </a:p>
        </p:txBody>
      </p:sp>
    </p:spTree>
  </p:cSld>
  <p:clrMapOvr>
    <a:masterClrMapping/>
  </p:clrMapOvr>
  <p:transition>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a:xfrm>
            <a:off x="428596" y="2071678"/>
            <a:ext cx="8229600" cy="4525963"/>
          </a:xfrm>
        </p:spPr>
        <p:txBody>
          <a:bodyPr>
            <a:normAutofit/>
          </a:bodyPr>
          <a:lstStyle/>
          <a:p>
            <a:pPr marL="0" indent="0">
              <a:buNone/>
            </a:pPr>
            <a:r>
              <a:rPr lang="fr-FR" sz="1800" dirty="0" smtClean="0">
                <a:latin typeface="Times New Roman" pitchFamily="18" charset="0"/>
                <a:cs typeface="Times New Roman" pitchFamily="18" charset="0"/>
              </a:rPr>
              <a:t>SQL permet :</a:t>
            </a:r>
          </a:p>
          <a:p>
            <a:pPr marL="0" indent="0">
              <a:buNone/>
            </a:pPr>
            <a:endParaRPr lang="fr-FR" sz="1800" dirty="0" smtClean="0">
              <a:latin typeface="Times New Roman" pitchFamily="18" charset="0"/>
              <a:cs typeface="Times New Roman" pitchFamily="18" charset="0"/>
            </a:endParaRPr>
          </a:p>
          <a:p>
            <a:r>
              <a:rPr lang="fr-FR" sz="1800" dirty="0" smtClean="0">
                <a:latin typeface="Times New Roman" pitchFamily="18" charset="0"/>
                <a:cs typeface="Times New Roman" pitchFamily="18" charset="0"/>
              </a:rPr>
              <a:t>de </a:t>
            </a:r>
            <a:r>
              <a:rPr lang="fr-FR" sz="1800" b="1" dirty="0" smtClean="0">
                <a:latin typeface="Times New Roman" pitchFamily="18" charset="0"/>
                <a:cs typeface="Times New Roman" pitchFamily="18" charset="0"/>
              </a:rPr>
              <a:t>définir le schéma de la base de données (LDD)</a:t>
            </a:r>
          </a:p>
          <a:p>
            <a:pPr>
              <a:buNone/>
            </a:pPr>
            <a:endParaRPr lang="fr-FR" sz="1800" b="1" dirty="0" smtClean="0">
              <a:latin typeface="Times New Roman" pitchFamily="18" charset="0"/>
              <a:cs typeface="Times New Roman" pitchFamily="18" charset="0"/>
            </a:endParaRPr>
          </a:p>
          <a:p>
            <a:r>
              <a:rPr lang="fr-FR" sz="1800" dirty="0" smtClean="0">
                <a:latin typeface="Times New Roman" pitchFamily="18" charset="0"/>
                <a:cs typeface="Times New Roman" pitchFamily="18" charset="0"/>
              </a:rPr>
              <a:t>de </a:t>
            </a:r>
            <a:r>
              <a:rPr lang="fr-FR" sz="1800" b="1" dirty="0" smtClean="0">
                <a:latin typeface="Times New Roman" pitchFamily="18" charset="0"/>
                <a:cs typeface="Times New Roman" pitchFamily="18" charset="0"/>
              </a:rPr>
              <a:t>charger les tables relationnelles (LMD)</a:t>
            </a:r>
          </a:p>
          <a:p>
            <a:pPr>
              <a:buNone/>
            </a:pPr>
            <a:endParaRPr lang="fr-FR" sz="1800" b="1" dirty="0" smtClean="0">
              <a:latin typeface="Times New Roman" pitchFamily="18" charset="0"/>
              <a:cs typeface="Times New Roman" pitchFamily="18" charset="0"/>
            </a:endParaRPr>
          </a:p>
          <a:p>
            <a:r>
              <a:rPr lang="fr-FR" sz="1800" dirty="0" smtClean="0">
                <a:latin typeface="Times New Roman" pitchFamily="18" charset="0"/>
                <a:cs typeface="Times New Roman" pitchFamily="18" charset="0"/>
              </a:rPr>
              <a:t>de </a:t>
            </a:r>
            <a:r>
              <a:rPr lang="fr-FR" sz="1800" b="1" dirty="0" smtClean="0">
                <a:latin typeface="Times New Roman" pitchFamily="18" charset="0"/>
                <a:cs typeface="Times New Roman" pitchFamily="18" charset="0"/>
              </a:rPr>
              <a:t>manipuler les données stockées (LMD)</a:t>
            </a:r>
          </a:p>
          <a:p>
            <a:pPr>
              <a:buNone/>
            </a:pPr>
            <a:endParaRPr lang="fr-FR" sz="1800" b="1" dirty="0" smtClean="0">
              <a:latin typeface="Times New Roman" pitchFamily="18" charset="0"/>
              <a:cs typeface="Times New Roman" pitchFamily="18" charset="0"/>
            </a:endParaRPr>
          </a:p>
          <a:p>
            <a:r>
              <a:rPr lang="fr-FR" sz="1800" dirty="0" smtClean="0">
                <a:latin typeface="Times New Roman" pitchFamily="18" charset="0"/>
                <a:cs typeface="Times New Roman" pitchFamily="18" charset="0"/>
              </a:rPr>
              <a:t>de </a:t>
            </a:r>
            <a:r>
              <a:rPr lang="fr-FR" sz="1800" b="1" dirty="0" smtClean="0">
                <a:latin typeface="Times New Roman" pitchFamily="18" charset="0"/>
                <a:cs typeface="Times New Roman" pitchFamily="18" charset="0"/>
              </a:rPr>
              <a:t>gérer la base de données (LDD) : sécurité, organisation physique</a:t>
            </a:r>
            <a:endParaRPr lang="fr-FR" sz="1800" dirty="0">
              <a:latin typeface="Times New Roman" pitchFamily="18" charset="0"/>
              <a:cs typeface="Times New Roman" pitchFamily="18" charset="0"/>
            </a:endParaRPr>
          </a:p>
        </p:txBody>
      </p:sp>
      <p:sp>
        <p:nvSpPr>
          <p:cNvPr id="3" name="Titre 2"/>
          <p:cNvSpPr>
            <a:spLocks noGrp="1"/>
          </p:cNvSpPr>
          <p:nvPr>
            <p:ph type="title"/>
          </p:nvPr>
        </p:nvSpPr>
        <p:spPr/>
        <p:txBody>
          <a:bodyPr>
            <a:normAutofit/>
          </a:bodyPr>
          <a:lstStyle/>
          <a:p>
            <a:r>
              <a:rPr lang="fr-FR" sz="2400" dirty="0" smtClean="0">
                <a:solidFill>
                  <a:schemeClr val="accent1"/>
                </a:solidFill>
                <a:latin typeface="Times New Roman" pitchFamily="18" charset="0"/>
                <a:cs typeface="Times New Roman" pitchFamily="18" charset="0"/>
              </a:rPr>
              <a:t>Introduction à SQL : LDD et LMD</a:t>
            </a:r>
            <a:endParaRPr lang="fr-FR" sz="2400" dirty="0">
              <a:solidFill>
                <a:schemeClr val="accent1"/>
              </a:solidFill>
              <a:latin typeface="Times New Roman" pitchFamily="18" charset="0"/>
              <a:cs typeface="Times New Roman" pitchFamily="18" charset="0"/>
            </a:endParaRPr>
          </a:p>
        </p:txBody>
      </p:sp>
      <p:sp>
        <p:nvSpPr>
          <p:cNvPr id="6" name="Rectangle 5"/>
          <p:cNvSpPr/>
          <p:nvPr/>
        </p:nvSpPr>
        <p:spPr>
          <a:xfrm>
            <a:off x="428596" y="1428736"/>
            <a:ext cx="6929486" cy="369332"/>
          </a:xfrm>
          <a:prstGeom prst="rect">
            <a:avLst/>
          </a:prstGeom>
        </p:spPr>
        <p:txBody>
          <a:bodyPr wrap="square">
            <a:spAutoFit/>
          </a:bodyPr>
          <a:lstStyle/>
          <a:p>
            <a:r>
              <a:rPr lang="fr-FR" dirty="0" smtClean="0">
                <a:latin typeface="Times New Roman" pitchFamily="18" charset="0"/>
                <a:cs typeface="Times New Roman" pitchFamily="18" charset="0"/>
              </a:rPr>
              <a:t>SQL n’est pas un langage de programmation complet.</a:t>
            </a:r>
            <a:endParaRPr lang="fr-FR" dirty="0">
              <a:latin typeface="Times New Roman" pitchFamily="18" charset="0"/>
              <a:cs typeface="Times New Roman" pitchFamily="18" charset="0"/>
            </a:endParaRPr>
          </a:p>
        </p:txBody>
      </p:sp>
    </p:spTree>
  </p:cSld>
  <p:clrMapOvr>
    <a:masterClrMapping/>
  </p:clrMapOvr>
  <p:transition>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a:xfrm>
            <a:off x="428596" y="1071546"/>
            <a:ext cx="8229600" cy="4811715"/>
          </a:xfrm>
        </p:spPr>
        <p:txBody>
          <a:bodyPr>
            <a:normAutofit/>
          </a:bodyPr>
          <a:lstStyle/>
          <a:p>
            <a:pPr marL="0" indent="0" algn="just">
              <a:buNone/>
            </a:pPr>
            <a:r>
              <a:rPr lang="fr-FR" sz="1900" dirty="0" smtClean="0">
                <a:latin typeface="Times New Roman" pitchFamily="18" charset="0"/>
                <a:cs typeface="Times New Roman" pitchFamily="18" charset="0"/>
              </a:rPr>
              <a:t>Un </a:t>
            </a:r>
            <a:r>
              <a:rPr lang="fr-FR" sz="1900" b="1" dirty="0" smtClean="0">
                <a:latin typeface="Times New Roman" pitchFamily="18" charset="0"/>
                <a:cs typeface="Times New Roman" pitchFamily="18" charset="0"/>
              </a:rPr>
              <a:t>langage de définition de données</a:t>
            </a:r>
            <a:r>
              <a:rPr lang="fr-FR" sz="1900" dirty="0" smtClean="0">
                <a:latin typeface="Times New Roman" pitchFamily="18" charset="0"/>
                <a:cs typeface="Times New Roman" pitchFamily="18" charset="0"/>
              </a:rPr>
              <a:t> (</a:t>
            </a:r>
            <a:r>
              <a:rPr lang="fr-FR" sz="1900" b="1" dirty="0" smtClean="0">
                <a:latin typeface="Times New Roman" pitchFamily="18" charset="0"/>
                <a:cs typeface="Times New Roman" pitchFamily="18" charset="0"/>
              </a:rPr>
              <a:t>LDD</a:t>
            </a:r>
            <a:r>
              <a:rPr lang="fr-FR" sz="1900" dirty="0" smtClean="0">
                <a:latin typeface="Times New Roman" pitchFamily="18" charset="0"/>
                <a:cs typeface="Times New Roman" pitchFamily="18" charset="0"/>
              </a:rPr>
              <a:t> ; en anglais </a:t>
            </a:r>
            <a:r>
              <a:rPr lang="fr-FR" sz="1900" i="1" dirty="0" smtClean="0">
                <a:latin typeface="Times New Roman" pitchFamily="18" charset="0"/>
                <a:cs typeface="Times New Roman" pitchFamily="18" charset="0"/>
              </a:rPr>
              <a:t>data </a:t>
            </a:r>
            <a:r>
              <a:rPr lang="fr-FR" sz="1900" i="1" dirty="0" err="1" smtClean="0">
                <a:latin typeface="Times New Roman" pitchFamily="18" charset="0"/>
                <a:cs typeface="Times New Roman" pitchFamily="18" charset="0"/>
              </a:rPr>
              <a:t>definition</a:t>
            </a:r>
            <a:r>
              <a:rPr lang="fr-FR" sz="1900" i="1" dirty="0" smtClean="0">
                <a:latin typeface="Times New Roman" pitchFamily="18" charset="0"/>
                <a:cs typeface="Times New Roman" pitchFamily="18" charset="0"/>
              </a:rPr>
              <a:t> </a:t>
            </a:r>
            <a:r>
              <a:rPr lang="fr-FR" sz="1900" i="1" dirty="0" err="1" smtClean="0">
                <a:latin typeface="Times New Roman" pitchFamily="18" charset="0"/>
                <a:cs typeface="Times New Roman" pitchFamily="18" charset="0"/>
              </a:rPr>
              <a:t>language</a:t>
            </a:r>
            <a:r>
              <a:rPr lang="fr-FR" sz="1900" dirty="0" smtClean="0">
                <a:latin typeface="Times New Roman" pitchFamily="18" charset="0"/>
                <a:cs typeface="Times New Roman" pitchFamily="18" charset="0"/>
              </a:rPr>
              <a:t>, DDL) est un langage de programmation et un sous-ensemble de SQL pour manipuler les structures de données d'une base de données, et non les données elles-mêmes.</a:t>
            </a:r>
          </a:p>
          <a:p>
            <a:pPr marL="0" indent="0" algn="just">
              <a:buNone/>
            </a:pPr>
            <a:endParaRPr lang="fr-FR" sz="1900" b="1" dirty="0" smtClean="0">
              <a:latin typeface="Times New Roman" pitchFamily="18" charset="0"/>
              <a:cs typeface="Times New Roman" pitchFamily="18" charset="0"/>
            </a:endParaRPr>
          </a:p>
          <a:p>
            <a:pPr marL="0" indent="0" algn="just">
              <a:buNone/>
            </a:pPr>
            <a:endParaRPr lang="fr-FR" sz="1900" b="1" dirty="0" smtClean="0">
              <a:latin typeface="Times New Roman" pitchFamily="18" charset="0"/>
              <a:cs typeface="Times New Roman" pitchFamily="18" charset="0"/>
            </a:endParaRPr>
          </a:p>
        </p:txBody>
      </p:sp>
      <p:sp>
        <p:nvSpPr>
          <p:cNvPr id="3" name="Titre 2"/>
          <p:cNvSpPr>
            <a:spLocks noGrp="1"/>
          </p:cNvSpPr>
          <p:nvPr>
            <p:ph type="title"/>
          </p:nvPr>
        </p:nvSpPr>
        <p:spPr>
          <a:xfrm>
            <a:off x="500034" y="214290"/>
            <a:ext cx="8229600" cy="1143000"/>
          </a:xfrm>
        </p:spPr>
        <p:txBody>
          <a:bodyPr>
            <a:normAutofit/>
          </a:bodyPr>
          <a:lstStyle/>
          <a:p>
            <a:r>
              <a:rPr lang="fr-FR" sz="2400" dirty="0" smtClean="0">
                <a:solidFill>
                  <a:schemeClr val="accent1"/>
                </a:solidFill>
                <a:effectLst/>
              </a:rPr>
              <a:t>LE LANGAGE SQL LDD</a:t>
            </a:r>
            <a:endParaRPr lang="fr-FR" sz="2400" dirty="0">
              <a:solidFill>
                <a:schemeClr val="accent1"/>
              </a:solidFill>
              <a:effectLst/>
            </a:endParaRPr>
          </a:p>
        </p:txBody>
      </p:sp>
      <p:sp>
        <p:nvSpPr>
          <p:cNvPr id="4" name="Rectangle 3"/>
          <p:cNvSpPr/>
          <p:nvPr/>
        </p:nvSpPr>
        <p:spPr>
          <a:xfrm>
            <a:off x="1571604" y="2500306"/>
            <a:ext cx="4572000" cy="3693319"/>
          </a:xfrm>
          <a:prstGeom prst="rect">
            <a:avLst/>
          </a:prstGeom>
        </p:spPr>
        <p:txBody>
          <a:bodyPr>
            <a:spAutoFit/>
          </a:bodyPr>
          <a:lstStyle/>
          <a:p>
            <a:r>
              <a:rPr lang="fr-FR" b="1" dirty="0" smtClean="0"/>
              <a:t>Les opérations du LDD :</a:t>
            </a:r>
          </a:p>
          <a:p>
            <a:r>
              <a:rPr lang="fr-FR" b="1" dirty="0" smtClean="0"/>
              <a:t>Création d’un schéma</a:t>
            </a:r>
          </a:p>
          <a:p>
            <a:r>
              <a:rPr lang="fr-FR" b="1" dirty="0" smtClean="0"/>
              <a:t>Création d’une table</a:t>
            </a:r>
          </a:p>
          <a:p>
            <a:r>
              <a:rPr lang="fr-FR" dirty="0" smtClean="0"/>
              <a:t>colonnes (obligatoire)</a:t>
            </a:r>
          </a:p>
          <a:p>
            <a:r>
              <a:rPr lang="fr-FR" dirty="0" smtClean="0"/>
              <a:t>domaine</a:t>
            </a:r>
          </a:p>
          <a:p>
            <a:r>
              <a:rPr lang="fr-FR" dirty="0" smtClean="0"/>
              <a:t>identifiants primaire et secondaire</a:t>
            </a:r>
          </a:p>
          <a:p>
            <a:r>
              <a:rPr lang="fr-FR" dirty="0" smtClean="0"/>
              <a:t>clé étrangère</a:t>
            </a:r>
          </a:p>
          <a:p>
            <a:r>
              <a:rPr lang="fr-FR" b="1" dirty="0" smtClean="0"/>
              <a:t>Suppression d’une table</a:t>
            </a:r>
          </a:p>
          <a:p>
            <a:r>
              <a:rPr lang="fr-FR" b="1" dirty="0" smtClean="0"/>
              <a:t>Ajout, suppression, modification d’une colonne</a:t>
            </a:r>
          </a:p>
          <a:p>
            <a:r>
              <a:rPr lang="fr-FR" b="1" dirty="0" smtClean="0"/>
              <a:t>Ajout, suppression d’une contrainte</a:t>
            </a:r>
          </a:p>
          <a:p>
            <a:r>
              <a:rPr lang="fr-FR" b="1" dirty="0" smtClean="0"/>
              <a:t>Ajout, suppression d’un index</a:t>
            </a:r>
          </a:p>
          <a:p>
            <a:r>
              <a:rPr lang="fr-FR" b="1" dirty="0" smtClean="0"/>
              <a:t>Création d’un espace de stockage</a:t>
            </a:r>
            <a:endParaRPr lang="fr-FR" dirty="0"/>
          </a:p>
        </p:txBody>
      </p:sp>
    </p:spTree>
  </p:cSld>
  <p:clrMapOvr>
    <a:masterClrMapping/>
  </p:clrMapOvr>
  <p:transition>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500034" y="0"/>
            <a:ext cx="8229600" cy="1143000"/>
          </a:xfrm>
        </p:spPr>
        <p:txBody>
          <a:bodyPr>
            <a:normAutofit/>
          </a:bodyPr>
          <a:lstStyle/>
          <a:p>
            <a:r>
              <a:rPr lang="fr-FR" sz="2400" dirty="0" smtClean="0">
                <a:solidFill>
                  <a:schemeClr val="accent1"/>
                </a:solidFill>
                <a:effectLst/>
                <a:latin typeface="Times New Roman" pitchFamily="18" charset="0"/>
                <a:cs typeface="Times New Roman" pitchFamily="18" charset="0"/>
              </a:rPr>
              <a:t>Création d'une table et de ses colonnes</a:t>
            </a:r>
            <a:endParaRPr lang="fr-FR" sz="2400" dirty="0">
              <a:solidFill>
                <a:schemeClr val="accent1"/>
              </a:solidFill>
              <a:effectLst/>
              <a:latin typeface="Times New Roman" pitchFamily="18" charset="0"/>
              <a:cs typeface="Times New Roman" pitchFamily="18" charset="0"/>
            </a:endParaRPr>
          </a:p>
        </p:txBody>
      </p:sp>
      <p:sp>
        <p:nvSpPr>
          <p:cNvPr id="5" name="Rectangle 4"/>
          <p:cNvSpPr/>
          <p:nvPr/>
        </p:nvSpPr>
        <p:spPr>
          <a:xfrm>
            <a:off x="642910" y="1357298"/>
            <a:ext cx="5000660" cy="1754326"/>
          </a:xfrm>
          <a:prstGeom prst="rect">
            <a:avLst/>
          </a:prstGeom>
        </p:spPr>
        <p:txBody>
          <a:bodyPr wrap="square">
            <a:spAutoFit/>
          </a:bodyPr>
          <a:lstStyle/>
          <a:p>
            <a:r>
              <a:rPr lang="fr-FR" b="1" dirty="0" err="1" smtClean="0">
                <a:latin typeface="Times New Roman" pitchFamily="18" charset="0"/>
                <a:cs typeface="Times New Roman" pitchFamily="18" charset="0"/>
              </a:rPr>
              <a:t>create</a:t>
            </a:r>
            <a:r>
              <a:rPr lang="fr-FR" b="1" dirty="0" smtClean="0">
                <a:latin typeface="Times New Roman" pitchFamily="18" charset="0"/>
                <a:cs typeface="Times New Roman" pitchFamily="18" charset="0"/>
              </a:rPr>
              <a:t> table </a:t>
            </a:r>
            <a:r>
              <a:rPr lang="fr-FR" dirty="0" smtClean="0">
                <a:latin typeface="Times New Roman" pitchFamily="18" charset="0"/>
                <a:cs typeface="Times New Roman" pitchFamily="18" charset="0"/>
              </a:rPr>
              <a:t>CLIENT ( NCLI char(10),</a:t>
            </a:r>
          </a:p>
          <a:p>
            <a:r>
              <a:rPr lang="fr-FR" dirty="0" smtClean="0">
                <a:latin typeface="Times New Roman" pitchFamily="18" charset="0"/>
                <a:cs typeface="Times New Roman" pitchFamily="18" charset="0"/>
              </a:rPr>
              <a:t>NOM char(32),</a:t>
            </a:r>
          </a:p>
          <a:p>
            <a:r>
              <a:rPr lang="fr-FR" dirty="0" smtClean="0">
                <a:latin typeface="Times New Roman" pitchFamily="18" charset="0"/>
                <a:cs typeface="Times New Roman" pitchFamily="18" charset="0"/>
              </a:rPr>
              <a:t>ADRESSE char(60),</a:t>
            </a:r>
          </a:p>
          <a:p>
            <a:r>
              <a:rPr lang="fr-FR" dirty="0" smtClean="0">
                <a:latin typeface="Times New Roman" pitchFamily="18" charset="0"/>
                <a:cs typeface="Times New Roman" pitchFamily="18" charset="0"/>
              </a:rPr>
              <a:t>LOCALITE char(30),</a:t>
            </a:r>
          </a:p>
          <a:p>
            <a:r>
              <a:rPr lang="fr-FR" dirty="0" smtClean="0">
                <a:latin typeface="Times New Roman" pitchFamily="18" charset="0"/>
                <a:cs typeface="Times New Roman" pitchFamily="18" charset="0"/>
              </a:rPr>
              <a:t>CAT char(2),</a:t>
            </a:r>
          </a:p>
          <a:p>
            <a:r>
              <a:rPr lang="fr-FR" dirty="0" smtClean="0">
                <a:latin typeface="Times New Roman" pitchFamily="18" charset="0"/>
                <a:cs typeface="Times New Roman" pitchFamily="18" charset="0"/>
              </a:rPr>
              <a:t>COMPTE </a:t>
            </a:r>
            <a:r>
              <a:rPr lang="fr-FR" dirty="0" err="1" smtClean="0">
                <a:latin typeface="Times New Roman" pitchFamily="18" charset="0"/>
                <a:cs typeface="Times New Roman" pitchFamily="18" charset="0"/>
              </a:rPr>
              <a:t>decimal</a:t>
            </a:r>
            <a:r>
              <a:rPr lang="fr-FR" dirty="0" smtClean="0">
                <a:latin typeface="Times New Roman" pitchFamily="18" charset="0"/>
                <a:cs typeface="Times New Roman" pitchFamily="18" charset="0"/>
              </a:rPr>
              <a:t>(9,2) );</a:t>
            </a:r>
            <a:endParaRPr lang="fr-FR"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cstate="print"/>
          <a:srcRect/>
          <a:stretch>
            <a:fillRect/>
          </a:stretch>
        </p:blipFill>
        <p:spPr bwMode="auto">
          <a:xfrm>
            <a:off x="6715140" y="1357298"/>
            <a:ext cx="1581150" cy="1485900"/>
          </a:xfrm>
          <a:prstGeom prst="rect">
            <a:avLst/>
          </a:prstGeom>
          <a:noFill/>
          <a:ln w="9525">
            <a:noFill/>
            <a:miter lim="800000"/>
            <a:headEnd/>
            <a:tailEnd/>
          </a:ln>
          <a:effectLst/>
        </p:spPr>
      </p:pic>
      <p:sp>
        <p:nvSpPr>
          <p:cNvPr id="7" name="Rectangle 6"/>
          <p:cNvSpPr/>
          <p:nvPr/>
        </p:nvSpPr>
        <p:spPr>
          <a:xfrm>
            <a:off x="571472" y="3143248"/>
            <a:ext cx="2451312" cy="461665"/>
          </a:xfrm>
          <a:prstGeom prst="rect">
            <a:avLst/>
          </a:prstGeom>
        </p:spPr>
        <p:txBody>
          <a:bodyPr wrap="none">
            <a:spAutoFit/>
          </a:bodyPr>
          <a:lstStyle/>
          <a:p>
            <a:r>
              <a:rPr lang="fr-FR" sz="2400" b="1" dirty="0" smtClean="0">
                <a:solidFill>
                  <a:schemeClr val="accent1"/>
                </a:solidFill>
                <a:latin typeface="Times New Roman" pitchFamily="18" charset="0"/>
                <a:cs typeface="Times New Roman" pitchFamily="18" charset="0"/>
              </a:rPr>
              <a:t>Les types de base</a:t>
            </a:r>
            <a:endParaRPr lang="fr-FR" sz="2400" dirty="0">
              <a:solidFill>
                <a:schemeClr val="accent1"/>
              </a:solidFill>
              <a:latin typeface="Times New Roman" pitchFamily="18" charset="0"/>
              <a:cs typeface="Times New Roman" pitchFamily="18" charset="0"/>
            </a:endParaRPr>
          </a:p>
        </p:txBody>
      </p:sp>
      <p:pic>
        <p:nvPicPr>
          <p:cNvPr id="2051" name="Picture 3"/>
          <p:cNvPicPr>
            <a:picLocks noChangeAspect="1" noChangeArrowheads="1"/>
          </p:cNvPicPr>
          <p:nvPr/>
        </p:nvPicPr>
        <p:blipFill>
          <a:blip r:embed="rId3" cstate="print"/>
          <a:srcRect/>
          <a:stretch>
            <a:fillRect/>
          </a:stretch>
        </p:blipFill>
        <p:spPr bwMode="auto">
          <a:xfrm>
            <a:off x="357158" y="3643314"/>
            <a:ext cx="8553450" cy="3214686"/>
          </a:xfrm>
          <a:prstGeom prst="rect">
            <a:avLst/>
          </a:prstGeom>
          <a:noFill/>
          <a:ln w="9525">
            <a:noFill/>
            <a:miter lim="800000"/>
            <a:headEnd/>
            <a:tailEnd/>
          </a:ln>
          <a:effectLst/>
        </p:spPr>
      </p:pic>
    </p:spTree>
  </p:cSld>
  <p:clrMapOvr>
    <a:masterClrMapping/>
  </p:clrMapOvr>
  <p:transition>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dirty="0" smtClean="0">
                <a:solidFill>
                  <a:schemeClr val="accent1"/>
                </a:solidFill>
                <a:effectLst/>
              </a:rPr>
              <a:t>Les colonnes obligatoires</a:t>
            </a:r>
            <a:endParaRPr lang="fr-FR" dirty="0">
              <a:solidFill>
                <a:schemeClr val="accent1"/>
              </a:solidFill>
              <a:effectLst/>
            </a:endParaRPr>
          </a:p>
        </p:txBody>
      </p:sp>
      <p:sp>
        <p:nvSpPr>
          <p:cNvPr id="4" name="Rectangle 3"/>
          <p:cNvSpPr/>
          <p:nvPr/>
        </p:nvSpPr>
        <p:spPr>
          <a:xfrm>
            <a:off x="500034" y="1428736"/>
            <a:ext cx="8429684" cy="646331"/>
          </a:xfrm>
          <a:prstGeom prst="rect">
            <a:avLst/>
          </a:prstGeom>
        </p:spPr>
        <p:txBody>
          <a:bodyPr wrap="square">
            <a:spAutoFit/>
          </a:bodyPr>
          <a:lstStyle/>
          <a:p>
            <a:r>
              <a:rPr lang="fr-FR" dirty="0" smtClean="0"/>
              <a:t>Une colonne est facultative par défaut. Il faut déclarer explicitement les colonnes obligatoires.</a:t>
            </a:r>
            <a:endParaRPr lang="fr-FR" dirty="0"/>
          </a:p>
        </p:txBody>
      </p:sp>
      <p:sp>
        <p:nvSpPr>
          <p:cNvPr id="5" name="Rectangle 4"/>
          <p:cNvSpPr/>
          <p:nvPr/>
        </p:nvSpPr>
        <p:spPr>
          <a:xfrm>
            <a:off x="571472" y="2357430"/>
            <a:ext cx="5643602" cy="2031325"/>
          </a:xfrm>
          <a:prstGeom prst="rect">
            <a:avLst/>
          </a:prstGeom>
        </p:spPr>
        <p:txBody>
          <a:bodyPr wrap="square">
            <a:spAutoFit/>
          </a:bodyPr>
          <a:lstStyle/>
          <a:p>
            <a:r>
              <a:rPr lang="en-US" dirty="0" smtClean="0"/>
              <a:t>create table CLIENT ( NCLI char(10) </a:t>
            </a:r>
            <a:r>
              <a:rPr lang="en-US" b="1" dirty="0" smtClean="0"/>
              <a:t>not null</a:t>
            </a:r>
            <a:r>
              <a:rPr lang="en-US" dirty="0" smtClean="0"/>
              <a:t>,</a:t>
            </a:r>
          </a:p>
          <a:p>
            <a:r>
              <a:rPr lang="fr-FR" dirty="0" smtClean="0"/>
              <a:t>NOM char(32) </a:t>
            </a:r>
            <a:r>
              <a:rPr lang="fr-FR" b="1" dirty="0" smtClean="0"/>
              <a:t>not </a:t>
            </a:r>
            <a:r>
              <a:rPr lang="fr-FR" b="1" dirty="0" err="1" smtClean="0"/>
              <a:t>null</a:t>
            </a:r>
            <a:r>
              <a:rPr lang="fr-FR" dirty="0" smtClean="0"/>
              <a:t>,</a:t>
            </a:r>
          </a:p>
          <a:p>
            <a:r>
              <a:rPr lang="fr-FR" dirty="0" smtClean="0"/>
              <a:t>ADRESSE char(60) </a:t>
            </a:r>
            <a:r>
              <a:rPr lang="fr-FR" b="1" dirty="0" smtClean="0"/>
              <a:t>not </a:t>
            </a:r>
            <a:r>
              <a:rPr lang="fr-FR" b="1" dirty="0" err="1" smtClean="0"/>
              <a:t>null</a:t>
            </a:r>
            <a:r>
              <a:rPr lang="fr-FR" dirty="0" smtClean="0"/>
              <a:t>,</a:t>
            </a:r>
          </a:p>
          <a:p>
            <a:r>
              <a:rPr lang="fr-FR" dirty="0" smtClean="0"/>
              <a:t>LOCALITE char(30) </a:t>
            </a:r>
            <a:r>
              <a:rPr lang="fr-FR" b="1" dirty="0" smtClean="0"/>
              <a:t>not </a:t>
            </a:r>
            <a:r>
              <a:rPr lang="fr-FR" b="1" dirty="0" err="1" smtClean="0"/>
              <a:t>null</a:t>
            </a:r>
            <a:r>
              <a:rPr lang="fr-FR" dirty="0" smtClean="0"/>
              <a:t>,</a:t>
            </a:r>
          </a:p>
          <a:p>
            <a:r>
              <a:rPr lang="fr-FR" dirty="0" smtClean="0"/>
              <a:t>CAT char(2),</a:t>
            </a:r>
          </a:p>
          <a:p>
            <a:r>
              <a:rPr lang="fr-FR" dirty="0" smtClean="0"/>
              <a:t>COMPTE </a:t>
            </a:r>
            <a:r>
              <a:rPr lang="fr-FR" dirty="0" err="1" smtClean="0"/>
              <a:t>decimal</a:t>
            </a:r>
            <a:r>
              <a:rPr lang="fr-FR" dirty="0" smtClean="0"/>
              <a:t>(9,2) </a:t>
            </a:r>
            <a:r>
              <a:rPr lang="fr-FR" b="1" dirty="0" smtClean="0"/>
              <a:t>not </a:t>
            </a:r>
            <a:r>
              <a:rPr lang="fr-FR" b="1" dirty="0" err="1" smtClean="0"/>
              <a:t>null</a:t>
            </a:r>
            <a:endParaRPr lang="fr-FR" b="1" dirty="0" smtClean="0"/>
          </a:p>
          <a:p>
            <a:r>
              <a:rPr lang="fr-FR" dirty="0" smtClean="0"/>
              <a:t>);</a:t>
            </a:r>
            <a:endParaRPr lang="fr-FR" dirty="0"/>
          </a:p>
        </p:txBody>
      </p:sp>
    </p:spTree>
  </p:cSld>
  <p:clrMapOvr>
    <a:masterClrMapping/>
  </p:clrMapOvr>
  <p:transition>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a:bodyPr>
          <a:lstStyle/>
          <a:p>
            <a:pPr marL="0" indent="0" algn="just">
              <a:buNone/>
            </a:pPr>
            <a:r>
              <a:rPr lang="fr-FR" sz="1800" dirty="0" smtClean="0">
                <a:latin typeface="Times New Roman" pitchFamily="18" charset="0"/>
                <a:cs typeface="Times New Roman" pitchFamily="18" charset="0"/>
              </a:rPr>
              <a:t>Sera assignée à la colonne si on ne spécifie pas de valeur lors de la création d'une ligne.</a:t>
            </a:r>
          </a:p>
          <a:p>
            <a:pPr marL="0" indent="0" algn="just">
              <a:buNone/>
            </a:pPr>
            <a:endParaRPr lang="fr-FR" sz="1800" dirty="0" smtClean="0">
              <a:latin typeface="Times New Roman" pitchFamily="18" charset="0"/>
              <a:cs typeface="Times New Roman" pitchFamily="18" charset="0"/>
            </a:endParaRPr>
          </a:p>
          <a:p>
            <a:pPr algn="just">
              <a:buNone/>
            </a:pPr>
            <a:r>
              <a:rPr lang="fr-FR" sz="1800" dirty="0" err="1" smtClean="0">
                <a:latin typeface="Times New Roman" pitchFamily="18" charset="0"/>
                <a:cs typeface="Times New Roman" pitchFamily="18" charset="0"/>
              </a:rPr>
              <a:t>create</a:t>
            </a:r>
            <a:r>
              <a:rPr lang="fr-FR" sz="1800" dirty="0" smtClean="0">
                <a:latin typeface="Times New Roman" pitchFamily="18" charset="0"/>
                <a:cs typeface="Times New Roman" pitchFamily="18" charset="0"/>
              </a:rPr>
              <a:t> table CLIENT (</a:t>
            </a:r>
          </a:p>
          <a:p>
            <a:pPr algn="just">
              <a:buNone/>
            </a:pPr>
            <a:r>
              <a:rPr lang="fr-FR" sz="1800" dirty="0" smtClean="0">
                <a:latin typeface="Times New Roman" pitchFamily="18" charset="0"/>
                <a:cs typeface="Times New Roman" pitchFamily="18" charset="0"/>
              </a:rPr>
              <a:t>NCLI char(10) not </a:t>
            </a:r>
            <a:r>
              <a:rPr lang="fr-FR" sz="1800" dirty="0" err="1" smtClean="0">
                <a:latin typeface="Times New Roman" pitchFamily="18" charset="0"/>
                <a:cs typeface="Times New Roman" pitchFamily="18" charset="0"/>
              </a:rPr>
              <a:t>null</a:t>
            </a:r>
            <a:r>
              <a:rPr lang="fr-FR" sz="1800" dirty="0" smtClean="0">
                <a:latin typeface="Times New Roman" pitchFamily="18" charset="0"/>
                <a:cs typeface="Times New Roman" pitchFamily="18" charset="0"/>
              </a:rPr>
              <a:t>,</a:t>
            </a:r>
          </a:p>
          <a:p>
            <a:pPr algn="just">
              <a:buNone/>
            </a:pPr>
            <a:r>
              <a:rPr lang="fr-FR" sz="1800" dirty="0" smtClean="0">
                <a:latin typeface="Times New Roman" pitchFamily="18" charset="0"/>
                <a:cs typeface="Times New Roman" pitchFamily="18" charset="0"/>
              </a:rPr>
              <a:t>NOM char(32) not </a:t>
            </a:r>
            <a:r>
              <a:rPr lang="fr-FR" sz="1800" dirty="0" err="1" smtClean="0">
                <a:latin typeface="Times New Roman" pitchFamily="18" charset="0"/>
                <a:cs typeface="Times New Roman" pitchFamily="18" charset="0"/>
              </a:rPr>
              <a:t>null</a:t>
            </a:r>
            <a:r>
              <a:rPr lang="fr-FR" sz="1800" dirty="0" smtClean="0">
                <a:latin typeface="Times New Roman" pitchFamily="18" charset="0"/>
                <a:cs typeface="Times New Roman" pitchFamily="18" charset="0"/>
              </a:rPr>
              <a:t>,</a:t>
            </a:r>
          </a:p>
          <a:p>
            <a:pPr algn="just">
              <a:buNone/>
            </a:pPr>
            <a:r>
              <a:rPr lang="fr-FR" sz="1800" dirty="0" smtClean="0">
                <a:latin typeface="Times New Roman" pitchFamily="18" charset="0"/>
                <a:cs typeface="Times New Roman" pitchFamily="18" charset="0"/>
              </a:rPr>
              <a:t>ADRESSE char(60) not </a:t>
            </a:r>
            <a:r>
              <a:rPr lang="fr-FR" sz="1800" dirty="0" err="1" smtClean="0">
                <a:latin typeface="Times New Roman" pitchFamily="18" charset="0"/>
                <a:cs typeface="Times New Roman" pitchFamily="18" charset="0"/>
              </a:rPr>
              <a:t>null</a:t>
            </a:r>
            <a:r>
              <a:rPr lang="fr-FR" sz="1800" dirty="0" smtClean="0">
                <a:latin typeface="Times New Roman" pitchFamily="18" charset="0"/>
                <a:cs typeface="Times New Roman" pitchFamily="18" charset="0"/>
              </a:rPr>
              <a:t>,</a:t>
            </a:r>
          </a:p>
          <a:p>
            <a:pPr algn="just">
              <a:buNone/>
            </a:pPr>
            <a:r>
              <a:rPr lang="en-US" sz="1800" dirty="0" smtClean="0">
                <a:latin typeface="Times New Roman" pitchFamily="18" charset="0"/>
                <a:cs typeface="Times New Roman" pitchFamily="18" charset="0"/>
              </a:rPr>
              <a:t>LOCALITE char(30) not null </a:t>
            </a:r>
            <a:r>
              <a:rPr lang="en-US" sz="1800" b="1" dirty="0" smtClean="0">
                <a:latin typeface="Times New Roman" pitchFamily="18" charset="0"/>
                <a:cs typeface="Times New Roman" pitchFamily="18" charset="0"/>
              </a:rPr>
              <a:t>default 'Paris',</a:t>
            </a:r>
          </a:p>
          <a:p>
            <a:pPr algn="just">
              <a:buNone/>
            </a:pPr>
            <a:r>
              <a:rPr lang="fr-FR" sz="1800" dirty="0" smtClean="0">
                <a:latin typeface="Times New Roman" pitchFamily="18" charset="0"/>
                <a:cs typeface="Times New Roman" pitchFamily="18" charset="0"/>
              </a:rPr>
              <a:t>CAT char(2) default 'B1',</a:t>
            </a:r>
          </a:p>
          <a:p>
            <a:pPr algn="just">
              <a:buNone/>
            </a:pPr>
            <a:r>
              <a:rPr lang="fr-FR" sz="1800" dirty="0" smtClean="0">
                <a:latin typeface="Times New Roman" pitchFamily="18" charset="0"/>
                <a:cs typeface="Times New Roman" pitchFamily="18" charset="0"/>
              </a:rPr>
              <a:t>COMPTE </a:t>
            </a:r>
            <a:r>
              <a:rPr lang="fr-FR" sz="1800" dirty="0" err="1" smtClean="0">
                <a:latin typeface="Times New Roman" pitchFamily="18" charset="0"/>
                <a:cs typeface="Times New Roman" pitchFamily="18" charset="0"/>
              </a:rPr>
              <a:t>decimal</a:t>
            </a:r>
            <a:r>
              <a:rPr lang="fr-FR" sz="1800" dirty="0" smtClean="0">
                <a:latin typeface="Times New Roman" pitchFamily="18" charset="0"/>
                <a:cs typeface="Times New Roman" pitchFamily="18" charset="0"/>
              </a:rPr>
              <a:t>(9,2) not </a:t>
            </a:r>
            <a:r>
              <a:rPr lang="fr-FR" sz="1800" dirty="0" err="1" smtClean="0">
                <a:latin typeface="Times New Roman" pitchFamily="18" charset="0"/>
                <a:cs typeface="Times New Roman" pitchFamily="18" charset="0"/>
              </a:rPr>
              <a:t>null</a:t>
            </a:r>
            <a:r>
              <a:rPr lang="fr-FR" sz="1800" dirty="0" smtClean="0">
                <a:latin typeface="Times New Roman" pitchFamily="18" charset="0"/>
                <a:cs typeface="Times New Roman" pitchFamily="18" charset="0"/>
              </a:rPr>
              <a:t> </a:t>
            </a:r>
            <a:r>
              <a:rPr lang="fr-FR" sz="1800" b="1" dirty="0" smtClean="0">
                <a:latin typeface="Times New Roman" pitchFamily="18" charset="0"/>
                <a:cs typeface="Times New Roman" pitchFamily="18" charset="0"/>
              </a:rPr>
              <a:t>default</a:t>
            </a:r>
            <a:r>
              <a:rPr lang="fr-FR" sz="1800" dirty="0" smtClean="0">
                <a:latin typeface="Times New Roman" pitchFamily="18" charset="0"/>
                <a:cs typeface="Times New Roman" pitchFamily="18" charset="0"/>
              </a:rPr>
              <a:t> 0.0</a:t>
            </a:r>
          </a:p>
          <a:p>
            <a:pPr algn="just">
              <a:buNone/>
            </a:pPr>
            <a:r>
              <a:rPr lang="fr-FR" sz="1800" dirty="0" smtClean="0">
                <a:latin typeface="Times New Roman" pitchFamily="18" charset="0"/>
                <a:cs typeface="Times New Roman" pitchFamily="18" charset="0"/>
              </a:rPr>
              <a:t>);</a:t>
            </a:r>
          </a:p>
          <a:p>
            <a:pPr algn="just">
              <a:buNone/>
            </a:pPr>
            <a:endParaRPr lang="fr-FR" sz="1800" dirty="0" smtClean="0">
              <a:latin typeface="Times New Roman" pitchFamily="18" charset="0"/>
              <a:cs typeface="Times New Roman" pitchFamily="18" charset="0"/>
            </a:endParaRPr>
          </a:p>
        </p:txBody>
      </p:sp>
      <p:sp>
        <p:nvSpPr>
          <p:cNvPr id="3" name="Titre 2"/>
          <p:cNvSpPr>
            <a:spLocks noGrp="1"/>
          </p:cNvSpPr>
          <p:nvPr>
            <p:ph type="title"/>
          </p:nvPr>
        </p:nvSpPr>
        <p:spPr/>
        <p:txBody>
          <a:bodyPr>
            <a:normAutofit/>
          </a:bodyPr>
          <a:lstStyle/>
          <a:p>
            <a:r>
              <a:rPr lang="fr-FR" sz="2400" dirty="0" smtClean="0">
                <a:solidFill>
                  <a:schemeClr val="accent1"/>
                </a:solidFill>
                <a:effectLst/>
                <a:latin typeface="Times New Roman" pitchFamily="18" charset="0"/>
                <a:cs typeface="Times New Roman" pitchFamily="18" charset="0"/>
              </a:rPr>
              <a:t>Valeur par défaut d'une colonne</a:t>
            </a:r>
            <a:endParaRPr lang="fr-FR" sz="2400" dirty="0">
              <a:solidFill>
                <a:schemeClr val="accent1"/>
              </a:solidFill>
              <a:effectLst/>
              <a:latin typeface="Times New Roman" pitchFamily="18" charset="0"/>
              <a:cs typeface="Times New Roman" pitchFamily="18" charset="0"/>
            </a:endParaRPr>
          </a:p>
        </p:txBody>
      </p:sp>
    </p:spTree>
  </p:cSld>
  <p:clrMapOvr>
    <a:masterClrMapping/>
  </p:clrMapOvr>
  <p:transition>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428596" y="285728"/>
            <a:ext cx="8229600" cy="714380"/>
          </a:xfrm>
        </p:spPr>
        <p:txBody>
          <a:bodyPr>
            <a:normAutofit/>
          </a:bodyPr>
          <a:lstStyle/>
          <a:p>
            <a:r>
              <a:rPr lang="fr-FR" sz="2400" dirty="0" smtClean="0">
                <a:solidFill>
                  <a:schemeClr val="accent1"/>
                </a:solidFill>
                <a:latin typeface="Times New Roman" pitchFamily="18" charset="0"/>
                <a:cs typeface="Times New Roman" pitchFamily="18" charset="0"/>
              </a:rPr>
              <a:t>Les identifiants primaires (</a:t>
            </a:r>
            <a:r>
              <a:rPr lang="fr-FR" sz="2400" i="1" dirty="0" err="1" smtClean="0">
                <a:solidFill>
                  <a:schemeClr val="accent1"/>
                </a:solidFill>
                <a:latin typeface="Times New Roman" pitchFamily="18" charset="0"/>
                <a:cs typeface="Times New Roman" pitchFamily="18" charset="0"/>
              </a:rPr>
              <a:t>primary</a:t>
            </a:r>
            <a:r>
              <a:rPr lang="fr-FR" sz="2400" i="1" dirty="0" smtClean="0">
                <a:solidFill>
                  <a:schemeClr val="accent1"/>
                </a:solidFill>
                <a:latin typeface="Times New Roman" pitchFamily="18" charset="0"/>
                <a:cs typeface="Times New Roman" pitchFamily="18" charset="0"/>
              </a:rPr>
              <a:t> </a:t>
            </a:r>
            <a:r>
              <a:rPr lang="fr-FR" sz="2400" i="1" dirty="0" err="1" smtClean="0">
                <a:solidFill>
                  <a:schemeClr val="accent1"/>
                </a:solidFill>
                <a:latin typeface="Times New Roman" pitchFamily="18" charset="0"/>
                <a:cs typeface="Times New Roman" pitchFamily="18" charset="0"/>
              </a:rPr>
              <a:t>key</a:t>
            </a:r>
            <a:r>
              <a:rPr lang="fr-FR" sz="2400" i="1" dirty="0" smtClean="0">
                <a:solidFill>
                  <a:schemeClr val="accent1"/>
                </a:solidFill>
                <a:latin typeface="Times New Roman" pitchFamily="18" charset="0"/>
                <a:cs typeface="Times New Roman" pitchFamily="18" charset="0"/>
              </a:rPr>
              <a:t>)</a:t>
            </a:r>
            <a:endParaRPr lang="fr-FR" sz="2400" dirty="0">
              <a:solidFill>
                <a:schemeClr val="accent1"/>
              </a:solidFill>
              <a:latin typeface="Times New Roman" pitchFamily="18" charset="0"/>
              <a:cs typeface="Times New Roman" pitchFamily="18" charset="0"/>
            </a:endParaRPr>
          </a:p>
        </p:txBody>
      </p:sp>
      <p:pic>
        <p:nvPicPr>
          <p:cNvPr id="3074" name="Picture 2"/>
          <p:cNvPicPr>
            <a:picLocks noGrp="1" noChangeAspect="1" noChangeArrowheads="1"/>
          </p:cNvPicPr>
          <p:nvPr>
            <p:ph idx="1"/>
          </p:nvPr>
        </p:nvPicPr>
        <p:blipFill>
          <a:blip r:embed="rId2" cstate="print"/>
          <a:srcRect/>
          <a:stretch>
            <a:fillRect/>
          </a:stretch>
        </p:blipFill>
        <p:spPr bwMode="auto">
          <a:xfrm>
            <a:off x="5786446" y="1214422"/>
            <a:ext cx="2524125" cy="1752600"/>
          </a:xfrm>
          <a:prstGeom prst="rect">
            <a:avLst/>
          </a:prstGeom>
          <a:noFill/>
          <a:ln w="9525">
            <a:noFill/>
            <a:miter lim="800000"/>
            <a:headEnd/>
            <a:tailEnd/>
          </a:ln>
          <a:effectLst/>
        </p:spPr>
      </p:pic>
      <p:sp>
        <p:nvSpPr>
          <p:cNvPr id="5" name="Rectangle 4"/>
          <p:cNvSpPr/>
          <p:nvPr/>
        </p:nvSpPr>
        <p:spPr>
          <a:xfrm>
            <a:off x="500034" y="928670"/>
            <a:ext cx="5786478" cy="2308324"/>
          </a:xfrm>
          <a:prstGeom prst="rect">
            <a:avLst/>
          </a:prstGeom>
        </p:spPr>
        <p:txBody>
          <a:bodyPr wrap="square">
            <a:spAutoFit/>
          </a:bodyPr>
          <a:lstStyle/>
          <a:p>
            <a:r>
              <a:rPr lang="en-US" dirty="0" smtClean="0">
                <a:latin typeface="Times New Roman" pitchFamily="18" charset="0"/>
                <a:cs typeface="Times New Roman" pitchFamily="18" charset="0"/>
              </a:rPr>
              <a:t>create table CLIENT ( NCLI char(10) not null,</a:t>
            </a:r>
          </a:p>
          <a:p>
            <a:r>
              <a:rPr lang="fr-FR" dirty="0" smtClean="0">
                <a:latin typeface="Times New Roman" pitchFamily="18" charset="0"/>
                <a:cs typeface="Times New Roman" pitchFamily="18" charset="0"/>
              </a:rPr>
              <a:t>NOM char(32) not </a:t>
            </a:r>
            <a:r>
              <a:rPr lang="fr-FR" dirty="0" err="1" smtClean="0">
                <a:latin typeface="Times New Roman" pitchFamily="18" charset="0"/>
                <a:cs typeface="Times New Roman" pitchFamily="18" charset="0"/>
              </a:rPr>
              <a:t>null</a:t>
            </a:r>
            <a:r>
              <a:rPr lang="fr-FR" dirty="0" smtClean="0">
                <a:latin typeface="Times New Roman" pitchFamily="18" charset="0"/>
                <a:cs typeface="Times New Roman" pitchFamily="18" charset="0"/>
              </a:rPr>
              <a:t>,</a:t>
            </a:r>
          </a:p>
          <a:p>
            <a:r>
              <a:rPr lang="fr-FR" dirty="0" smtClean="0">
                <a:latin typeface="Times New Roman" pitchFamily="18" charset="0"/>
                <a:cs typeface="Times New Roman" pitchFamily="18" charset="0"/>
              </a:rPr>
              <a:t>ADRESSE char(60) not </a:t>
            </a:r>
            <a:r>
              <a:rPr lang="fr-FR" dirty="0" err="1" smtClean="0">
                <a:latin typeface="Times New Roman" pitchFamily="18" charset="0"/>
                <a:cs typeface="Times New Roman" pitchFamily="18" charset="0"/>
              </a:rPr>
              <a:t>null</a:t>
            </a:r>
            <a:r>
              <a:rPr lang="fr-FR" dirty="0" smtClean="0">
                <a:latin typeface="Times New Roman" pitchFamily="18" charset="0"/>
                <a:cs typeface="Times New Roman" pitchFamily="18" charset="0"/>
              </a:rPr>
              <a:t>,</a:t>
            </a:r>
          </a:p>
          <a:p>
            <a:r>
              <a:rPr lang="fr-FR" dirty="0" smtClean="0">
                <a:latin typeface="Times New Roman" pitchFamily="18" charset="0"/>
                <a:cs typeface="Times New Roman" pitchFamily="18" charset="0"/>
              </a:rPr>
              <a:t>LOCALITE char(30) not </a:t>
            </a:r>
            <a:r>
              <a:rPr lang="fr-FR" dirty="0" err="1" smtClean="0">
                <a:latin typeface="Times New Roman" pitchFamily="18" charset="0"/>
                <a:cs typeface="Times New Roman" pitchFamily="18" charset="0"/>
              </a:rPr>
              <a:t>null</a:t>
            </a:r>
            <a:r>
              <a:rPr lang="fr-FR" dirty="0" smtClean="0">
                <a:latin typeface="Times New Roman" pitchFamily="18" charset="0"/>
                <a:cs typeface="Times New Roman" pitchFamily="18" charset="0"/>
              </a:rPr>
              <a:t>,</a:t>
            </a:r>
          </a:p>
          <a:p>
            <a:r>
              <a:rPr lang="fr-FR" dirty="0" smtClean="0">
                <a:latin typeface="Times New Roman" pitchFamily="18" charset="0"/>
                <a:cs typeface="Times New Roman" pitchFamily="18" charset="0"/>
              </a:rPr>
              <a:t>CAT char(2),</a:t>
            </a:r>
          </a:p>
          <a:p>
            <a:r>
              <a:rPr lang="fr-FR" dirty="0" smtClean="0">
                <a:latin typeface="Times New Roman" pitchFamily="18" charset="0"/>
                <a:cs typeface="Times New Roman" pitchFamily="18" charset="0"/>
              </a:rPr>
              <a:t>COMPTE </a:t>
            </a:r>
            <a:r>
              <a:rPr lang="fr-FR" dirty="0" err="1" smtClean="0">
                <a:latin typeface="Times New Roman" pitchFamily="18" charset="0"/>
                <a:cs typeface="Times New Roman" pitchFamily="18" charset="0"/>
              </a:rPr>
              <a:t>decimal</a:t>
            </a:r>
            <a:r>
              <a:rPr lang="fr-FR" dirty="0" smtClean="0">
                <a:latin typeface="Times New Roman" pitchFamily="18" charset="0"/>
                <a:cs typeface="Times New Roman" pitchFamily="18" charset="0"/>
              </a:rPr>
              <a:t>(9,2) not </a:t>
            </a:r>
            <a:r>
              <a:rPr lang="fr-FR" dirty="0" err="1" smtClean="0">
                <a:latin typeface="Times New Roman" pitchFamily="18" charset="0"/>
                <a:cs typeface="Times New Roman" pitchFamily="18" charset="0"/>
              </a:rPr>
              <a:t>null</a:t>
            </a:r>
            <a:r>
              <a:rPr lang="fr-FR" dirty="0" smtClean="0">
                <a:latin typeface="Times New Roman" pitchFamily="18" charset="0"/>
                <a:cs typeface="Times New Roman" pitchFamily="18" charset="0"/>
              </a:rPr>
              <a:t>,</a:t>
            </a:r>
          </a:p>
          <a:p>
            <a:r>
              <a:rPr lang="fr-FR" b="1" dirty="0" err="1" smtClean="0">
                <a:latin typeface="Times New Roman" pitchFamily="18" charset="0"/>
                <a:cs typeface="Times New Roman" pitchFamily="18" charset="0"/>
              </a:rPr>
              <a:t>primary</a:t>
            </a:r>
            <a:r>
              <a:rPr lang="fr-FR" b="1" dirty="0" smtClean="0">
                <a:latin typeface="Times New Roman" pitchFamily="18" charset="0"/>
                <a:cs typeface="Times New Roman" pitchFamily="18" charset="0"/>
              </a:rPr>
              <a:t> </a:t>
            </a:r>
            <a:r>
              <a:rPr lang="fr-FR" b="1" dirty="0" err="1" smtClean="0">
                <a:latin typeface="Times New Roman" pitchFamily="18" charset="0"/>
                <a:cs typeface="Times New Roman" pitchFamily="18" charset="0"/>
              </a:rPr>
              <a:t>key</a:t>
            </a:r>
            <a:r>
              <a:rPr lang="fr-FR" b="1" dirty="0" smtClean="0">
                <a:latin typeface="Times New Roman" pitchFamily="18" charset="0"/>
                <a:cs typeface="Times New Roman" pitchFamily="18" charset="0"/>
              </a:rPr>
              <a:t> (NCLI) </a:t>
            </a:r>
          </a:p>
          <a:p>
            <a:r>
              <a:rPr lang="fr-FR" dirty="0" smtClean="0">
                <a:latin typeface="Times New Roman" pitchFamily="18" charset="0"/>
                <a:cs typeface="Times New Roman" pitchFamily="18" charset="0"/>
              </a:rPr>
              <a:t>);</a:t>
            </a:r>
            <a:endParaRPr lang="fr-FR" dirty="0">
              <a:latin typeface="Times New Roman" pitchFamily="18" charset="0"/>
              <a:cs typeface="Times New Roman" pitchFamily="18" charset="0"/>
            </a:endParaRPr>
          </a:p>
        </p:txBody>
      </p:sp>
      <p:sp>
        <p:nvSpPr>
          <p:cNvPr id="6" name="Rectangle 5"/>
          <p:cNvSpPr/>
          <p:nvPr/>
        </p:nvSpPr>
        <p:spPr>
          <a:xfrm>
            <a:off x="428596" y="3429000"/>
            <a:ext cx="6500858" cy="461665"/>
          </a:xfrm>
          <a:prstGeom prst="rect">
            <a:avLst/>
          </a:prstGeom>
        </p:spPr>
        <p:txBody>
          <a:bodyPr wrap="square">
            <a:spAutoFit/>
          </a:bodyPr>
          <a:lstStyle/>
          <a:p>
            <a:r>
              <a:rPr lang="fr-FR" sz="2400" b="1" dirty="0" smtClean="0">
                <a:solidFill>
                  <a:schemeClr val="accent1"/>
                </a:solidFill>
                <a:latin typeface="Times New Roman" pitchFamily="18" charset="0"/>
                <a:cs typeface="Times New Roman" pitchFamily="18" charset="0"/>
              </a:rPr>
              <a:t>Les identifiants secondaires (</a:t>
            </a:r>
            <a:r>
              <a:rPr lang="fr-FR" sz="2400" b="1" i="1" dirty="0" smtClean="0">
                <a:solidFill>
                  <a:schemeClr val="accent1"/>
                </a:solidFill>
                <a:latin typeface="Times New Roman" pitchFamily="18" charset="0"/>
                <a:cs typeface="Times New Roman" pitchFamily="18" charset="0"/>
              </a:rPr>
              <a:t>candidate </a:t>
            </a:r>
            <a:r>
              <a:rPr lang="fr-FR" sz="2400" b="1" i="1" dirty="0" err="1" smtClean="0">
                <a:solidFill>
                  <a:schemeClr val="accent1"/>
                </a:solidFill>
                <a:latin typeface="Times New Roman" pitchFamily="18" charset="0"/>
                <a:cs typeface="Times New Roman" pitchFamily="18" charset="0"/>
              </a:rPr>
              <a:t>key</a:t>
            </a:r>
            <a:r>
              <a:rPr lang="fr-FR" sz="2400" b="1" i="1" dirty="0" smtClean="0">
                <a:solidFill>
                  <a:schemeClr val="accent1"/>
                </a:solidFill>
                <a:latin typeface="Times New Roman" pitchFamily="18" charset="0"/>
                <a:cs typeface="Times New Roman" pitchFamily="18" charset="0"/>
              </a:rPr>
              <a:t>)</a:t>
            </a:r>
            <a:endParaRPr lang="fr-FR" sz="2400" dirty="0">
              <a:solidFill>
                <a:schemeClr val="accent1"/>
              </a:solidFill>
              <a:latin typeface="Times New Roman" pitchFamily="18" charset="0"/>
              <a:cs typeface="Times New Roman" pitchFamily="18" charset="0"/>
            </a:endParaRPr>
          </a:p>
        </p:txBody>
      </p:sp>
      <p:sp>
        <p:nvSpPr>
          <p:cNvPr id="7" name="Rectangle 6"/>
          <p:cNvSpPr/>
          <p:nvPr/>
        </p:nvSpPr>
        <p:spPr>
          <a:xfrm>
            <a:off x="642910" y="3786190"/>
            <a:ext cx="5357850" cy="2308324"/>
          </a:xfrm>
          <a:prstGeom prst="rect">
            <a:avLst/>
          </a:prstGeom>
        </p:spPr>
        <p:txBody>
          <a:bodyPr wrap="square">
            <a:spAutoFit/>
          </a:bodyPr>
          <a:lstStyle/>
          <a:p>
            <a:r>
              <a:rPr lang="en-US" dirty="0" smtClean="0">
                <a:latin typeface="Times New Roman" pitchFamily="18" charset="0"/>
                <a:cs typeface="Times New Roman" pitchFamily="18" charset="0"/>
              </a:rPr>
              <a:t>create table CLIENT ( NCLI char(10) not null,</a:t>
            </a:r>
          </a:p>
          <a:p>
            <a:r>
              <a:rPr lang="fr-FR" dirty="0" smtClean="0">
                <a:latin typeface="Times New Roman" pitchFamily="18" charset="0"/>
                <a:cs typeface="Times New Roman" pitchFamily="18" charset="0"/>
              </a:rPr>
              <a:t>NOM char(32) not </a:t>
            </a:r>
            <a:r>
              <a:rPr lang="fr-FR" dirty="0" err="1" smtClean="0">
                <a:latin typeface="Times New Roman" pitchFamily="18" charset="0"/>
                <a:cs typeface="Times New Roman" pitchFamily="18" charset="0"/>
              </a:rPr>
              <a:t>null</a:t>
            </a:r>
            <a:r>
              <a:rPr lang="fr-FR" dirty="0" smtClean="0">
                <a:latin typeface="Times New Roman" pitchFamily="18" charset="0"/>
                <a:cs typeface="Times New Roman" pitchFamily="18" charset="0"/>
              </a:rPr>
              <a:t>,</a:t>
            </a:r>
          </a:p>
          <a:p>
            <a:r>
              <a:rPr lang="fr-FR" dirty="0" smtClean="0">
                <a:latin typeface="Times New Roman" pitchFamily="18" charset="0"/>
                <a:cs typeface="Times New Roman" pitchFamily="18" charset="0"/>
              </a:rPr>
              <a:t>ADRESSE char(60) not </a:t>
            </a:r>
            <a:r>
              <a:rPr lang="fr-FR" dirty="0" err="1" smtClean="0">
                <a:latin typeface="Times New Roman" pitchFamily="18" charset="0"/>
                <a:cs typeface="Times New Roman" pitchFamily="18" charset="0"/>
              </a:rPr>
              <a:t>null</a:t>
            </a:r>
            <a:r>
              <a:rPr lang="fr-FR" dirty="0" smtClean="0">
                <a:latin typeface="Times New Roman" pitchFamily="18" charset="0"/>
                <a:cs typeface="Times New Roman" pitchFamily="18" charset="0"/>
              </a:rPr>
              <a:t>,</a:t>
            </a:r>
          </a:p>
          <a:p>
            <a:r>
              <a:rPr lang="fr-FR" dirty="0" smtClean="0">
                <a:latin typeface="Times New Roman" pitchFamily="18" charset="0"/>
                <a:cs typeface="Times New Roman" pitchFamily="18" charset="0"/>
              </a:rPr>
              <a:t>LOCALITE char(30) not </a:t>
            </a:r>
            <a:r>
              <a:rPr lang="fr-FR" dirty="0" err="1" smtClean="0">
                <a:latin typeface="Times New Roman" pitchFamily="18" charset="0"/>
                <a:cs typeface="Times New Roman" pitchFamily="18" charset="0"/>
              </a:rPr>
              <a:t>null</a:t>
            </a:r>
            <a:r>
              <a:rPr lang="fr-FR" dirty="0" smtClean="0">
                <a:latin typeface="Times New Roman" pitchFamily="18" charset="0"/>
                <a:cs typeface="Times New Roman" pitchFamily="18" charset="0"/>
              </a:rPr>
              <a:t>,</a:t>
            </a:r>
          </a:p>
          <a:p>
            <a:r>
              <a:rPr lang="fr-FR" dirty="0" smtClean="0">
                <a:latin typeface="Times New Roman" pitchFamily="18" charset="0"/>
                <a:cs typeface="Times New Roman" pitchFamily="18" charset="0"/>
              </a:rPr>
              <a:t>CAT char(2),</a:t>
            </a:r>
          </a:p>
          <a:p>
            <a:r>
              <a:rPr lang="fr-FR" dirty="0" smtClean="0">
                <a:latin typeface="Times New Roman" pitchFamily="18" charset="0"/>
                <a:cs typeface="Times New Roman" pitchFamily="18" charset="0"/>
              </a:rPr>
              <a:t>COMPTE </a:t>
            </a:r>
            <a:r>
              <a:rPr lang="fr-FR" dirty="0" err="1" smtClean="0">
                <a:latin typeface="Times New Roman" pitchFamily="18" charset="0"/>
                <a:cs typeface="Times New Roman" pitchFamily="18" charset="0"/>
              </a:rPr>
              <a:t>decimal</a:t>
            </a:r>
            <a:r>
              <a:rPr lang="fr-FR" dirty="0" smtClean="0">
                <a:latin typeface="Times New Roman" pitchFamily="18" charset="0"/>
                <a:cs typeface="Times New Roman" pitchFamily="18" charset="0"/>
              </a:rPr>
              <a:t>(9,2) not </a:t>
            </a:r>
            <a:r>
              <a:rPr lang="fr-FR" dirty="0" err="1" smtClean="0">
                <a:latin typeface="Times New Roman" pitchFamily="18" charset="0"/>
                <a:cs typeface="Times New Roman" pitchFamily="18" charset="0"/>
              </a:rPr>
              <a:t>null</a:t>
            </a:r>
            <a:r>
              <a:rPr lang="fr-FR" dirty="0" smtClean="0">
                <a:latin typeface="Times New Roman" pitchFamily="18" charset="0"/>
                <a:cs typeface="Times New Roman" pitchFamily="18" charset="0"/>
              </a:rPr>
              <a:t>,</a:t>
            </a:r>
          </a:p>
          <a:p>
            <a:r>
              <a:rPr lang="fr-FR" dirty="0" err="1" smtClean="0">
                <a:latin typeface="Times New Roman" pitchFamily="18" charset="0"/>
                <a:cs typeface="Times New Roman" pitchFamily="18" charset="0"/>
              </a:rPr>
              <a:t>primary</a:t>
            </a:r>
            <a:r>
              <a:rPr lang="fr-FR" dirty="0" smtClean="0">
                <a:latin typeface="Times New Roman" pitchFamily="18" charset="0"/>
                <a:cs typeface="Times New Roman" pitchFamily="18" charset="0"/>
              </a:rPr>
              <a:t> </a:t>
            </a:r>
            <a:r>
              <a:rPr lang="fr-FR" dirty="0" err="1" smtClean="0">
                <a:latin typeface="Times New Roman" pitchFamily="18" charset="0"/>
                <a:cs typeface="Times New Roman" pitchFamily="18" charset="0"/>
              </a:rPr>
              <a:t>key</a:t>
            </a:r>
            <a:r>
              <a:rPr lang="fr-FR" dirty="0" smtClean="0">
                <a:latin typeface="Times New Roman" pitchFamily="18" charset="0"/>
                <a:cs typeface="Times New Roman" pitchFamily="18" charset="0"/>
              </a:rPr>
              <a:t> (NCLI),</a:t>
            </a:r>
          </a:p>
          <a:p>
            <a:r>
              <a:rPr lang="fr-FR" b="1" dirty="0" smtClean="0">
                <a:latin typeface="Times New Roman" pitchFamily="18" charset="0"/>
                <a:cs typeface="Times New Roman" pitchFamily="18" charset="0"/>
              </a:rPr>
              <a:t>unique</a:t>
            </a:r>
            <a:r>
              <a:rPr lang="fr-FR" dirty="0" smtClean="0">
                <a:latin typeface="Times New Roman" pitchFamily="18" charset="0"/>
                <a:cs typeface="Times New Roman" pitchFamily="18" charset="0"/>
              </a:rPr>
              <a:t> (NOM) );</a:t>
            </a:r>
            <a:endParaRPr lang="fr-FR" dirty="0">
              <a:latin typeface="Times New Roman" pitchFamily="18" charset="0"/>
              <a:cs typeface="Times New Roman" pitchFamily="18" charset="0"/>
            </a:endParaRPr>
          </a:p>
        </p:txBody>
      </p:sp>
      <p:pic>
        <p:nvPicPr>
          <p:cNvPr id="3075" name="Picture 3"/>
          <p:cNvPicPr>
            <a:picLocks noChangeAspect="1" noChangeArrowheads="1"/>
          </p:cNvPicPr>
          <p:nvPr/>
        </p:nvPicPr>
        <p:blipFill>
          <a:blip r:embed="rId3" cstate="print"/>
          <a:srcRect/>
          <a:stretch>
            <a:fillRect/>
          </a:stretch>
        </p:blipFill>
        <p:spPr bwMode="auto">
          <a:xfrm>
            <a:off x="5857884" y="4000504"/>
            <a:ext cx="2581275" cy="1885950"/>
          </a:xfrm>
          <a:prstGeom prst="rect">
            <a:avLst/>
          </a:prstGeom>
          <a:noFill/>
          <a:ln w="9525">
            <a:noFill/>
            <a:miter lim="800000"/>
            <a:headEnd/>
            <a:tailEnd/>
          </a:ln>
          <a:effectLst/>
        </p:spPr>
      </p:pic>
    </p:spTree>
  </p:cSld>
  <p:clrMapOvr>
    <a:masterClrMapping/>
  </p:clrMapOvr>
  <p:transition>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a:xfrm>
            <a:off x="457200" y="1481328"/>
            <a:ext cx="8472518" cy="4525963"/>
          </a:xfrm>
        </p:spPr>
        <p:txBody>
          <a:bodyPr>
            <a:normAutofit/>
          </a:bodyPr>
          <a:lstStyle/>
          <a:p>
            <a:pPr>
              <a:buNone/>
            </a:pPr>
            <a:r>
              <a:rPr lang="en-US" sz="1800" dirty="0" smtClean="0">
                <a:latin typeface="Times New Roman" pitchFamily="18" charset="0"/>
                <a:cs typeface="Times New Roman" pitchFamily="18" charset="0"/>
              </a:rPr>
              <a:t>create table COMMANDE (NCOM char(12) not null,</a:t>
            </a:r>
          </a:p>
          <a:p>
            <a:pPr>
              <a:buNone/>
            </a:pPr>
            <a:r>
              <a:rPr lang="fr-FR" sz="1800" dirty="0" smtClean="0">
                <a:latin typeface="Times New Roman" pitchFamily="18" charset="0"/>
                <a:cs typeface="Times New Roman" pitchFamily="18" charset="0"/>
              </a:rPr>
              <a:t>	NCLI char(10) not </a:t>
            </a:r>
            <a:r>
              <a:rPr lang="fr-FR" sz="1800" dirty="0" err="1" smtClean="0">
                <a:latin typeface="Times New Roman" pitchFamily="18" charset="0"/>
                <a:cs typeface="Times New Roman" pitchFamily="18" charset="0"/>
              </a:rPr>
              <a:t>null</a:t>
            </a:r>
            <a:r>
              <a:rPr lang="fr-FR" sz="1800" dirty="0" smtClean="0">
                <a:latin typeface="Times New Roman" pitchFamily="18" charset="0"/>
                <a:cs typeface="Times New Roman" pitchFamily="18" charset="0"/>
              </a:rPr>
              <a:t>,</a:t>
            </a:r>
          </a:p>
          <a:p>
            <a:pPr>
              <a:buNone/>
            </a:pPr>
            <a:r>
              <a:rPr lang="fr-FR" sz="1800" dirty="0" smtClean="0">
                <a:latin typeface="Times New Roman" pitchFamily="18" charset="0"/>
                <a:cs typeface="Times New Roman" pitchFamily="18" charset="0"/>
              </a:rPr>
              <a:t>	DATECOM date not </a:t>
            </a:r>
            <a:r>
              <a:rPr lang="fr-FR" sz="1800" dirty="0" err="1" smtClean="0">
                <a:latin typeface="Times New Roman" pitchFamily="18" charset="0"/>
                <a:cs typeface="Times New Roman" pitchFamily="18" charset="0"/>
              </a:rPr>
              <a:t>null</a:t>
            </a:r>
            <a:r>
              <a:rPr lang="fr-FR" sz="1800" dirty="0" smtClean="0">
                <a:latin typeface="Times New Roman" pitchFamily="18" charset="0"/>
                <a:cs typeface="Times New Roman" pitchFamily="18" charset="0"/>
              </a:rPr>
              <a:t>,</a:t>
            </a:r>
          </a:p>
          <a:p>
            <a:pPr>
              <a:buNone/>
            </a:pPr>
            <a:r>
              <a:rPr lang="fr-FR" sz="1800" dirty="0" smtClean="0">
                <a:latin typeface="Times New Roman" pitchFamily="18" charset="0"/>
                <a:cs typeface="Times New Roman" pitchFamily="18" charset="0"/>
              </a:rPr>
              <a:t>	</a:t>
            </a:r>
            <a:r>
              <a:rPr lang="fr-FR" sz="1800" dirty="0" err="1" smtClean="0">
                <a:latin typeface="Times New Roman" pitchFamily="18" charset="0"/>
                <a:cs typeface="Times New Roman" pitchFamily="18" charset="0"/>
              </a:rPr>
              <a:t>primary</a:t>
            </a:r>
            <a:r>
              <a:rPr lang="fr-FR" sz="1800" dirty="0" smtClean="0">
                <a:latin typeface="Times New Roman" pitchFamily="18" charset="0"/>
                <a:cs typeface="Times New Roman" pitchFamily="18" charset="0"/>
              </a:rPr>
              <a:t> </a:t>
            </a:r>
            <a:r>
              <a:rPr lang="fr-FR" sz="1800" dirty="0" err="1" smtClean="0">
                <a:latin typeface="Times New Roman" pitchFamily="18" charset="0"/>
                <a:cs typeface="Times New Roman" pitchFamily="18" charset="0"/>
              </a:rPr>
              <a:t>key</a:t>
            </a:r>
            <a:r>
              <a:rPr lang="fr-FR" sz="1800" dirty="0" smtClean="0">
                <a:latin typeface="Times New Roman" pitchFamily="18" charset="0"/>
                <a:cs typeface="Times New Roman" pitchFamily="18" charset="0"/>
              </a:rPr>
              <a:t> (NCOM),</a:t>
            </a:r>
          </a:p>
          <a:p>
            <a:pPr>
              <a:buNone/>
            </a:pPr>
            <a:r>
              <a:rPr lang="en-US" sz="1800" dirty="0" smtClean="0">
                <a:latin typeface="Times New Roman" pitchFamily="18" charset="0"/>
                <a:cs typeface="Times New Roman" pitchFamily="18" charset="0"/>
              </a:rPr>
              <a:t>	foreign key (NCLI) references CLIENT);</a:t>
            </a:r>
            <a:endParaRPr lang="fr-FR" sz="1800" dirty="0">
              <a:latin typeface="Times New Roman" pitchFamily="18" charset="0"/>
              <a:cs typeface="Times New Roman" pitchFamily="18" charset="0"/>
            </a:endParaRPr>
          </a:p>
        </p:txBody>
      </p:sp>
      <p:sp>
        <p:nvSpPr>
          <p:cNvPr id="3" name="Titre 2"/>
          <p:cNvSpPr>
            <a:spLocks noGrp="1"/>
          </p:cNvSpPr>
          <p:nvPr>
            <p:ph type="title"/>
          </p:nvPr>
        </p:nvSpPr>
        <p:spPr/>
        <p:txBody>
          <a:bodyPr>
            <a:normAutofit/>
          </a:bodyPr>
          <a:lstStyle/>
          <a:p>
            <a:r>
              <a:rPr lang="fr-FR" sz="2400" dirty="0" smtClean="0">
                <a:solidFill>
                  <a:schemeClr val="accent1"/>
                </a:solidFill>
                <a:effectLst/>
                <a:latin typeface="Times New Roman" pitchFamily="18" charset="0"/>
                <a:cs typeface="Times New Roman" pitchFamily="18" charset="0"/>
              </a:rPr>
              <a:t>Les clés étrangères (“</a:t>
            </a:r>
            <a:r>
              <a:rPr lang="fr-FR" sz="2400" dirty="0" err="1" smtClean="0">
                <a:solidFill>
                  <a:schemeClr val="accent1"/>
                </a:solidFill>
                <a:effectLst/>
                <a:latin typeface="Times New Roman" pitchFamily="18" charset="0"/>
                <a:cs typeface="Times New Roman" pitchFamily="18" charset="0"/>
              </a:rPr>
              <a:t>foreign</a:t>
            </a:r>
            <a:r>
              <a:rPr lang="fr-FR" sz="2400" dirty="0" smtClean="0">
                <a:solidFill>
                  <a:schemeClr val="accent1"/>
                </a:solidFill>
                <a:effectLst/>
                <a:latin typeface="Times New Roman" pitchFamily="18" charset="0"/>
                <a:cs typeface="Times New Roman" pitchFamily="18" charset="0"/>
              </a:rPr>
              <a:t> </a:t>
            </a:r>
            <a:r>
              <a:rPr lang="fr-FR" sz="2400" dirty="0" err="1" smtClean="0">
                <a:solidFill>
                  <a:schemeClr val="accent1"/>
                </a:solidFill>
                <a:effectLst/>
                <a:latin typeface="Times New Roman" pitchFamily="18" charset="0"/>
                <a:cs typeface="Times New Roman" pitchFamily="18" charset="0"/>
              </a:rPr>
              <a:t>key</a:t>
            </a:r>
            <a:r>
              <a:rPr lang="fr-FR" sz="2400" dirty="0" smtClean="0">
                <a:solidFill>
                  <a:schemeClr val="accent1"/>
                </a:solidFill>
                <a:effectLst/>
                <a:latin typeface="Times New Roman" pitchFamily="18" charset="0"/>
                <a:cs typeface="Times New Roman" pitchFamily="18" charset="0"/>
              </a:rPr>
              <a:t>”)</a:t>
            </a:r>
            <a:endParaRPr lang="fr-FR" sz="2400" dirty="0">
              <a:solidFill>
                <a:schemeClr val="accent1"/>
              </a:solidFill>
              <a:effectLst/>
              <a:latin typeface="Times New Roman" pitchFamily="18" charset="0"/>
              <a:cs typeface="Times New Roman" pitchFamily="18" charset="0"/>
            </a:endParaRPr>
          </a:p>
        </p:txBody>
      </p:sp>
      <p:pic>
        <p:nvPicPr>
          <p:cNvPr id="4099" name="Picture 3"/>
          <p:cNvPicPr>
            <a:picLocks noChangeAspect="1" noChangeArrowheads="1"/>
          </p:cNvPicPr>
          <p:nvPr/>
        </p:nvPicPr>
        <p:blipFill>
          <a:blip r:embed="rId2" cstate="print"/>
          <a:srcRect/>
          <a:stretch>
            <a:fillRect/>
          </a:stretch>
        </p:blipFill>
        <p:spPr bwMode="auto">
          <a:xfrm>
            <a:off x="6276975" y="1571612"/>
            <a:ext cx="2867025" cy="1638300"/>
          </a:xfrm>
          <a:prstGeom prst="rect">
            <a:avLst/>
          </a:prstGeom>
          <a:noFill/>
          <a:ln w="9525">
            <a:noFill/>
            <a:miter lim="800000"/>
            <a:headEnd/>
            <a:tailEnd/>
          </a:ln>
          <a:effectLst/>
        </p:spPr>
      </p:pic>
      <p:sp>
        <p:nvSpPr>
          <p:cNvPr id="6" name="Rectangle 5"/>
          <p:cNvSpPr/>
          <p:nvPr/>
        </p:nvSpPr>
        <p:spPr>
          <a:xfrm>
            <a:off x="642910" y="3857628"/>
            <a:ext cx="3542188" cy="461665"/>
          </a:xfrm>
          <a:prstGeom prst="rect">
            <a:avLst/>
          </a:prstGeom>
        </p:spPr>
        <p:txBody>
          <a:bodyPr wrap="none">
            <a:spAutoFit/>
          </a:bodyPr>
          <a:lstStyle/>
          <a:p>
            <a:r>
              <a:rPr lang="fr-FR" sz="2400" b="1" dirty="0" smtClean="0">
                <a:solidFill>
                  <a:schemeClr val="accent1"/>
                </a:solidFill>
                <a:latin typeface="Times New Roman" pitchFamily="18" charset="0"/>
                <a:cs typeface="Times New Roman" pitchFamily="18" charset="0"/>
              </a:rPr>
              <a:t>Suppression</a:t>
            </a:r>
            <a:r>
              <a:rPr lang="fr-FR" sz="2400" b="1" dirty="0" smtClean="0">
                <a:solidFill>
                  <a:schemeClr val="accent1"/>
                </a:solidFill>
              </a:rPr>
              <a:t> d'une table</a:t>
            </a:r>
            <a:endParaRPr lang="fr-FR" sz="2400" dirty="0">
              <a:solidFill>
                <a:schemeClr val="accent1"/>
              </a:solidFill>
            </a:endParaRPr>
          </a:p>
        </p:txBody>
      </p:sp>
      <p:sp>
        <p:nvSpPr>
          <p:cNvPr id="7" name="Rectangle 6"/>
          <p:cNvSpPr/>
          <p:nvPr/>
        </p:nvSpPr>
        <p:spPr>
          <a:xfrm>
            <a:off x="1071538" y="4429132"/>
            <a:ext cx="2855269" cy="369332"/>
          </a:xfrm>
          <a:prstGeom prst="rect">
            <a:avLst/>
          </a:prstGeom>
        </p:spPr>
        <p:txBody>
          <a:bodyPr wrap="none">
            <a:spAutoFit/>
          </a:bodyPr>
          <a:lstStyle/>
          <a:p>
            <a:r>
              <a:rPr lang="fr-FR" b="1" dirty="0" smtClean="0"/>
              <a:t>drop table </a:t>
            </a:r>
            <a:r>
              <a:rPr lang="fr-FR" dirty="0" smtClean="0"/>
              <a:t>COMMANDE</a:t>
            </a:r>
            <a:r>
              <a:rPr lang="fr-FR" b="1" dirty="0" smtClean="0"/>
              <a:t>;</a:t>
            </a:r>
            <a:endParaRPr lang="fr-FR" dirty="0"/>
          </a:p>
        </p:txBody>
      </p:sp>
    </p:spTree>
  </p:cSld>
  <p:clrMapOvr>
    <a:masterClrMapping/>
  </p:clrMapOvr>
  <p:transition>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457200" y="274638"/>
            <a:ext cx="8229600" cy="868346"/>
          </a:xfrm>
        </p:spPr>
        <p:txBody>
          <a:bodyPr>
            <a:normAutofit/>
          </a:bodyPr>
          <a:lstStyle/>
          <a:p>
            <a:r>
              <a:rPr lang="fr-FR" sz="2400" dirty="0" smtClean="0">
                <a:solidFill>
                  <a:schemeClr val="accent1"/>
                </a:solidFill>
                <a:effectLst/>
                <a:latin typeface="Times New Roman" pitchFamily="18" charset="0"/>
                <a:cs typeface="Times New Roman" pitchFamily="18" charset="0"/>
              </a:rPr>
              <a:t>Modification</a:t>
            </a:r>
            <a:r>
              <a:rPr lang="fr-FR" sz="2400" dirty="0" smtClean="0">
                <a:solidFill>
                  <a:schemeClr val="accent1"/>
                </a:solidFill>
                <a:latin typeface="Times New Roman" pitchFamily="18" charset="0"/>
                <a:cs typeface="Times New Roman" pitchFamily="18" charset="0"/>
              </a:rPr>
              <a:t> d'une table -</a:t>
            </a:r>
            <a:r>
              <a:rPr lang="fr-FR" sz="2400" i="1" dirty="0" smtClean="0">
                <a:solidFill>
                  <a:schemeClr val="accent1"/>
                </a:solidFill>
                <a:latin typeface="Times New Roman" pitchFamily="18" charset="0"/>
                <a:cs typeface="Times New Roman" pitchFamily="18" charset="0"/>
              </a:rPr>
              <a:t>Colonnes</a:t>
            </a:r>
            <a:endParaRPr lang="fr-FR" sz="2400" dirty="0">
              <a:solidFill>
                <a:schemeClr val="accent1"/>
              </a:solidFill>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2" cstate="print"/>
          <a:srcRect/>
          <a:stretch>
            <a:fillRect/>
          </a:stretch>
        </p:blipFill>
        <p:spPr bwMode="auto">
          <a:xfrm>
            <a:off x="214281" y="1395413"/>
            <a:ext cx="8786875" cy="4067175"/>
          </a:xfrm>
          <a:prstGeom prst="rect">
            <a:avLst/>
          </a:prstGeom>
          <a:noFill/>
          <a:ln w="9525">
            <a:noFill/>
            <a:miter lim="800000"/>
            <a:headEnd/>
            <a:tailEnd/>
          </a:ln>
          <a:effectLst/>
        </p:spPr>
      </p:pic>
    </p:spTree>
  </p:cSld>
  <p:clrMapOvr>
    <a:masterClrMapping/>
  </p:clrMapOvr>
  <p:transition>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rmAutofit/>
          </a:bodyPr>
          <a:lstStyle/>
          <a:p>
            <a:r>
              <a:rPr lang="fr-FR" sz="2400" dirty="0" smtClean="0">
                <a:solidFill>
                  <a:schemeClr val="accent1"/>
                </a:solidFill>
                <a:effectLst/>
                <a:latin typeface="Times New Roman" pitchFamily="18" charset="0"/>
                <a:cs typeface="Times New Roman" pitchFamily="18" charset="0"/>
              </a:rPr>
              <a:t>Modification d'une table - </a:t>
            </a:r>
            <a:r>
              <a:rPr lang="fr-FR" sz="2400" i="1" dirty="0" smtClean="0">
                <a:solidFill>
                  <a:schemeClr val="accent1"/>
                </a:solidFill>
                <a:effectLst/>
                <a:latin typeface="Times New Roman" pitchFamily="18" charset="0"/>
                <a:cs typeface="Times New Roman" pitchFamily="18" charset="0"/>
              </a:rPr>
              <a:t>Contraintes</a:t>
            </a:r>
            <a:endParaRPr lang="fr-FR" sz="2400" dirty="0">
              <a:solidFill>
                <a:schemeClr val="accent1"/>
              </a:solidFill>
              <a:effectLst/>
              <a:latin typeface="Times New Roman" pitchFamily="18" charset="0"/>
              <a:cs typeface="Times New Roman" pitchFamily="18" charset="0"/>
            </a:endParaRPr>
          </a:p>
        </p:txBody>
      </p:sp>
      <p:pic>
        <p:nvPicPr>
          <p:cNvPr id="6146" name="Picture 2"/>
          <p:cNvPicPr>
            <a:picLocks noChangeAspect="1" noChangeArrowheads="1"/>
          </p:cNvPicPr>
          <p:nvPr/>
        </p:nvPicPr>
        <p:blipFill>
          <a:blip r:embed="rId2" cstate="print"/>
          <a:srcRect/>
          <a:stretch>
            <a:fillRect/>
          </a:stretch>
        </p:blipFill>
        <p:spPr bwMode="auto">
          <a:xfrm>
            <a:off x="333375" y="1423988"/>
            <a:ext cx="8477250" cy="4010025"/>
          </a:xfrm>
          <a:prstGeom prst="rect">
            <a:avLst/>
          </a:prstGeom>
          <a:noFill/>
          <a:ln w="9525">
            <a:noFill/>
            <a:miter lim="800000"/>
            <a:headEnd/>
            <a:tailEnd/>
          </a:ln>
          <a:effectLst/>
        </p:spPr>
      </p:pic>
    </p:spTree>
  </p:cSld>
  <p:clrMapOvr>
    <a:masterClrMapping/>
  </p:clrMapOvr>
  <p:transition>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rmAutofit/>
          </a:bodyPr>
          <a:lstStyle/>
          <a:p>
            <a:r>
              <a:rPr lang="fr-FR" sz="2400" dirty="0" smtClean="0">
                <a:solidFill>
                  <a:schemeClr val="accent1"/>
                </a:solidFill>
                <a:effectLst/>
                <a:latin typeface="Times New Roman" pitchFamily="18" charset="0"/>
                <a:cs typeface="Times New Roman" pitchFamily="18" charset="0"/>
              </a:rPr>
              <a:t>LE LANGAGE SQL LMD (1)</a:t>
            </a:r>
            <a:endParaRPr lang="fr-FR" sz="2400" dirty="0">
              <a:solidFill>
                <a:schemeClr val="accent1"/>
              </a:solidFill>
              <a:effectLst/>
              <a:latin typeface="Times New Roman" pitchFamily="18" charset="0"/>
              <a:cs typeface="Times New Roman" pitchFamily="18" charset="0"/>
            </a:endParaRPr>
          </a:p>
        </p:txBody>
      </p:sp>
      <p:sp>
        <p:nvSpPr>
          <p:cNvPr id="4" name="Rectangle 3"/>
          <p:cNvSpPr/>
          <p:nvPr/>
        </p:nvSpPr>
        <p:spPr>
          <a:xfrm>
            <a:off x="214282" y="1285860"/>
            <a:ext cx="8358246" cy="3693319"/>
          </a:xfrm>
          <a:prstGeom prst="rect">
            <a:avLst/>
          </a:prstGeom>
        </p:spPr>
        <p:txBody>
          <a:bodyPr wrap="square">
            <a:spAutoFit/>
          </a:bodyPr>
          <a:lstStyle/>
          <a:p>
            <a:pPr algn="just"/>
            <a:r>
              <a:rPr lang="fr-FR" dirty="0" smtClean="0">
                <a:latin typeface="Times New Roman" pitchFamily="18" charset="0"/>
                <a:cs typeface="Times New Roman" pitchFamily="18" charset="0"/>
              </a:rPr>
              <a:t>Le sous-langage LMD de SQL permet de </a:t>
            </a:r>
            <a:r>
              <a:rPr lang="fr-FR" b="1" dirty="0" smtClean="0">
                <a:latin typeface="Times New Roman" pitchFamily="18" charset="0"/>
                <a:cs typeface="Times New Roman" pitchFamily="18" charset="0"/>
              </a:rPr>
              <a:t>consulter le contenu des tables et de les modifier. Il comporte 4 verbes :</a:t>
            </a:r>
          </a:p>
          <a:p>
            <a:pPr algn="just"/>
            <a:endParaRPr lang="fr-FR" b="1" dirty="0" smtClean="0">
              <a:latin typeface="Times New Roman" pitchFamily="18" charset="0"/>
              <a:cs typeface="Times New Roman" pitchFamily="18" charset="0"/>
            </a:endParaRPr>
          </a:p>
          <a:p>
            <a:pPr algn="just"/>
            <a:r>
              <a:rPr lang="fr-FR" dirty="0" smtClean="0">
                <a:latin typeface="Times New Roman" pitchFamily="18" charset="0"/>
                <a:cs typeface="Times New Roman" pitchFamily="18" charset="0"/>
              </a:rPr>
              <a:t>• La requête </a:t>
            </a:r>
            <a:r>
              <a:rPr lang="fr-FR" b="1" dirty="0" smtClean="0">
                <a:latin typeface="Times New Roman" pitchFamily="18" charset="0"/>
                <a:cs typeface="Times New Roman" pitchFamily="18" charset="0"/>
              </a:rPr>
              <a:t>select extrait des données des tables</a:t>
            </a:r>
          </a:p>
          <a:p>
            <a:pPr algn="just"/>
            <a:endParaRPr lang="fr-FR" b="1" dirty="0" smtClean="0">
              <a:latin typeface="Times New Roman" pitchFamily="18" charset="0"/>
              <a:cs typeface="Times New Roman" pitchFamily="18" charset="0"/>
            </a:endParaRPr>
          </a:p>
          <a:p>
            <a:pPr algn="just"/>
            <a:r>
              <a:rPr lang="fr-FR" dirty="0" smtClean="0">
                <a:latin typeface="Times New Roman" pitchFamily="18" charset="0"/>
                <a:cs typeface="Times New Roman" pitchFamily="18" charset="0"/>
              </a:rPr>
              <a:t>• La requête </a:t>
            </a:r>
            <a:r>
              <a:rPr lang="fr-FR" b="1" dirty="0" smtClean="0">
                <a:latin typeface="Times New Roman" pitchFamily="18" charset="0"/>
                <a:cs typeface="Times New Roman" pitchFamily="18" charset="0"/>
              </a:rPr>
              <a:t>insert insère de nouvelles lignes dans une table</a:t>
            </a:r>
          </a:p>
          <a:p>
            <a:pPr algn="just"/>
            <a:endParaRPr lang="fr-FR" b="1" dirty="0" smtClean="0">
              <a:latin typeface="Times New Roman" pitchFamily="18" charset="0"/>
              <a:cs typeface="Times New Roman" pitchFamily="18" charset="0"/>
            </a:endParaRPr>
          </a:p>
          <a:p>
            <a:pPr algn="just"/>
            <a:r>
              <a:rPr lang="fr-FR" dirty="0" smtClean="0">
                <a:latin typeface="Times New Roman" pitchFamily="18" charset="0"/>
                <a:cs typeface="Times New Roman" pitchFamily="18" charset="0"/>
              </a:rPr>
              <a:t>• La requête </a:t>
            </a:r>
            <a:r>
              <a:rPr lang="fr-FR" b="1" dirty="0" err="1" smtClean="0">
                <a:latin typeface="Times New Roman" pitchFamily="18" charset="0"/>
                <a:cs typeface="Times New Roman" pitchFamily="18" charset="0"/>
              </a:rPr>
              <a:t>delete</a:t>
            </a:r>
            <a:r>
              <a:rPr lang="fr-FR" b="1" dirty="0" smtClean="0">
                <a:latin typeface="Times New Roman" pitchFamily="18" charset="0"/>
                <a:cs typeface="Times New Roman" pitchFamily="18" charset="0"/>
              </a:rPr>
              <a:t> supprime des lignes d'une table</a:t>
            </a:r>
          </a:p>
          <a:p>
            <a:pPr algn="just"/>
            <a:endParaRPr lang="fr-FR" b="1" dirty="0" smtClean="0">
              <a:latin typeface="Times New Roman" pitchFamily="18" charset="0"/>
              <a:cs typeface="Times New Roman" pitchFamily="18" charset="0"/>
            </a:endParaRPr>
          </a:p>
          <a:p>
            <a:pPr algn="just"/>
            <a:r>
              <a:rPr lang="fr-FR" dirty="0" smtClean="0">
                <a:latin typeface="Times New Roman" pitchFamily="18" charset="0"/>
                <a:cs typeface="Times New Roman" pitchFamily="18" charset="0"/>
              </a:rPr>
              <a:t>• La requête </a:t>
            </a:r>
            <a:r>
              <a:rPr lang="fr-FR" b="1" dirty="0" smtClean="0">
                <a:latin typeface="Times New Roman" pitchFamily="18" charset="0"/>
                <a:cs typeface="Times New Roman" pitchFamily="18" charset="0"/>
              </a:rPr>
              <a:t>update modifie les valeurs de colonnes de lignes e</a:t>
            </a:r>
            <a:r>
              <a:rPr lang="fr-FR" dirty="0" smtClean="0">
                <a:latin typeface="Times New Roman" pitchFamily="18" charset="0"/>
                <a:cs typeface="Times New Roman" pitchFamily="18" charset="0"/>
              </a:rPr>
              <a:t>xistantes</a:t>
            </a:r>
          </a:p>
          <a:p>
            <a:pPr algn="just"/>
            <a:endParaRPr lang="fr-FR" dirty="0" smtClean="0">
              <a:latin typeface="Times New Roman" pitchFamily="18" charset="0"/>
              <a:cs typeface="Times New Roman" pitchFamily="18" charset="0"/>
            </a:endParaRPr>
          </a:p>
          <a:p>
            <a:pPr algn="just"/>
            <a:endParaRPr lang="fr-FR" dirty="0" smtClean="0">
              <a:latin typeface="Times New Roman" pitchFamily="18" charset="0"/>
              <a:cs typeface="Times New Roman" pitchFamily="18" charset="0"/>
            </a:endParaRPr>
          </a:p>
          <a:p>
            <a:pPr algn="just"/>
            <a:endParaRPr lang="fr-FR" dirty="0">
              <a:latin typeface="Times New Roman" pitchFamily="18" charset="0"/>
              <a:cs typeface="Times New Roman" pitchFamily="18" charset="0"/>
            </a:endParaRPr>
          </a:p>
        </p:txBody>
      </p:sp>
    </p:spTree>
  </p:cSld>
  <p:clrMapOvr>
    <a:masterClrMapping/>
  </p:clrMapOvr>
  <p:transition>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dirty="0" smtClean="0"/>
              <a:t>Exercice 1</a:t>
            </a:r>
            <a:endParaRPr lang="fr-FR" dirty="0"/>
          </a:p>
        </p:txBody>
      </p:sp>
      <p:pic>
        <p:nvPicPr>
          <p:cNvPr id="1026" name="Picture 2"/>
          <p:cNvPicPr>
            <a:picLocks noChangeAspect="1" noChangeArrowheads="1"/>
          </p:cNvPicPr>
          <p:nvPr/>
        </p:nvPicPr>
        <p:blipFill>
          <a:blip r:embed="rId2"/>
          <a:srcRect/>
          <a:stretch>
            <a:fillRect/>
          </a:stretch>
        </p:blipFill>
        <p:spPr bwMode="auto">
          <a:xfrm>
            <a:off x="1606151" y="2071678"/>
            <a:ext cx="5680493" cy="4000528"/>
          </a:xfrm>
          <a:prstGeom prst="rect">
            <a:avLst/>
          </a:prstGeom>
          <a:noFill/>
          <a:ln w="9525">
            <a:noFill/>
            <a:miter lim="800000"/>
            <a:headEnd/>
            <a:tailEnd/>
          </a:ln>
          <a:effectLst/>
        </p:spPr>
      </p:pic>
      <p:sp>
        <p:nvSpPr>
          <p:cNvPr id="5" name="ZoneTexte 4"/>
          <p:cNvSpPr txBox="1"/>
          <p:nvPr/>
        </p:nvSpPr>
        <p:spPr>
          <a:xfrm>
            <a:off x="571472" y="1714488"/>
            <a:ext cx="3195105" cy="369332"/>
          </a:xfrm>
          <a:prstGeom prst="rect">
            <a:avLst/>
          </a:prstGeom>
          <a:noFill/>
        </p:spPr>
        <p:txBody>
          <a:bodyPr wrap="none" rtlCol="0">
            <a:spAutoFit/>
          </a:bodyPr>
          <a:lstStyle/>
          <a:p>
            <a:r>
              <a:rPr lang="fr-FR" dirty="0" smtClean="0"/>
              <a:t>-Définir le </a:t>
            </a:r>
            <a:r>
              <a:rPr lang="fr-FR" smtClean="0"/>
              <a:t>SQL de ce </a:t>
            </a:r>
            <a:r>
              <a:rPr lang="fr-FR" dirty="0" smtClean="0"/>
              <a:t>MCD </a:t>
            </a:r>
            <a:endParaRPr lang="fr-FR" dirty="0"/>
          </a:p>
        </p:txBody>
      </p:sp>
    </p:spTree>
  </p:cSld>
  <p:clrMapOvr>
    <a:masterClrMapping/>
  </p:clrMapOvr>
  <p:transition>
    <p:wip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Rotonde">
  <a:themeElements>
    <a:clrScheme name="Rotond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Rotond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Rotond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3769</TotalTime>
  <Words>1207</Words>
  <Application>Microsoft Office PowerPoint</Application>
  <PresentationFormat>Affichage à l'écran (4:3)</PresentationFormat>
  <Paragraphs>187</Paragraphs>
  <Slides>24</Slides>
  <Notes>1</Notes>
  <HiddenSlides>2</HiddenSlides>
  <MMClips>0</MMClips>
  <ScaleCrop>false</ScaleCrop>
  <HeadingPairs>
    <vt:vector size="4" baseType="variant">
      <vt:variant>
        <vt:lpstr>Thème</vt:lpstr>
      </vt:variant>
      <vt:variant>
        <vt:i4>1</vt:i4>
      </vt:variant>
      <vt:variant>
        <vt:lpstr>Titres des diapositives</vt:lpstr>
      </vt:variant>
      <vt:variant>
        <vt:i4>24</vt:i4>
      </vt:variant>
    </vt:vector>
  </HeadingPairs>
  <TitlesOfParts>
    <vt:vector size="25" baseType="lpstr">
      <vt:lpstr>Rotonde</vt:lpstr>
      <vt:lpstr>SGBD MYSQL </vt:lpstr>
      <vt:lpstr>Sommaire</vt:lpstr>
      <vt:lpstr>INTRODUCTION GÉNÉRALE</vt:lpstr>
      <vt:lpstr>Diapositive 4</vt:lpstr>
      <vt:lpstr>Diapositive 5</vt:lpstr>
      <vt:lpstr>Diapositive 6</vt:lpstr>
      <vt:lpstr>Diapositive 7</vt:lpstr>
      <vt:lpstr>Diapositive 8</vt:lpstr>
      <vt:lpstr>Diapositive 9</vt:lpstr>
      <vt:lpstr>Diapositive 10</vt:lpstr>
      <vt:lpstr>Diapositive 11</vt:lpstr>
      <vt:lpstr>Diapositive 12</vt:lpstr>
      <vt:lpstr> LANGAGE SQL(Structured Query Language)</vt:lpstr>
      <vt:lpstr>Introduction à SQL : LDD et LMD</vt:lpstr>
      <vt:lpstr>LE LANGAGE SQL LDD</vt:lpstr>
      <vt:lpstr>Création d'une table et de ses colonnes</vt:lpstr>
      <vt:lpstr>Les colonnes obligatoires</vt:lpstr>
      <vt:lpstr>Valeur par défaut d'une colonne</vt:lpstr>
      <vt:lpstr>Les identifiants primaires (primary key)</vt:lpstr>
      <vt:lpstr>Les clés étrangères (“foreign key”)</vt:lpstr>
      <vt:lpstr>Modification d'une table -Colonnes</vt:lpstr>
      <vt:lpstr>Modification d'une table - Contraintes</vt:lpstr>
      <vt:lpstr>LE LANGAGE SQL LMD (1)</vt:lpstr>
      <vt:lpstr>Exercice 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BASES DE DONNEES</dc:title>
  <dc:creator>Miharantsoa</dc:creator>
  <cp:lastModifiedBy>EMIT</cp:lastModifiedBy>
  <cp:revision>257</cp:revision>
  <dcterms:created xsi:type="dcterms:W3CDTF">2017-06-24T13:43:16Z</dcterms:created>
  <dcterms:modified xsi:type="dcterms:W3CDTF">2020-05-11T13:23:13Z</dcterms:modified>
</cp:coreProperties>
</file>