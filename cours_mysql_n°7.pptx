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62" r:id="rId4"/>
    <p:sldId id="263" r:id="rId5"/>
    <p:sldId id="257" r:id="rId6"/>
    <p:sldId id="258" r:id="rId7"/>
    <p:sldId id="260" r:id="rId8"/>
    <p:sldId id="264" r:id="rId9"/>
    <p:sldId id="265" r:id="rId1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80" d="100"/>
          <a:sy n="80" d="100"/>
        </p:scale>
        <p:origin x="-1086" y="17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ectangle à coins arrondis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ous-titr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17" name="Espace réservé du pied de page 16"/>
          <p:cNvSpPr>
            <a:spLocks noGrp="1"/>
          </p:cNvSpPr>
          <p:nvPr>
            <p:ph type="ftr" sz="quarter" idx="11"/>
          </p:nvPr>
        </p:nvSpPr>
        <p:spPr/>
        <p:txBody>
          <a:bodyPr/>
          <a:lstStyle/>
          <a:p>
            <a:endParaRPr lang="fr-FR"/>
          </a:p>
        </p:txBody>
      </p:sp>
      <p:sp>
        <p:nvSpPr>
          <p:cNvPr id="29" name="Espace réservé du numéro de diapositive 28"/>
          <p:cNvSpPr>
            <a:spLocks noGrp="1"/>
          </p:cNvSpPr>
          <p:nvPr>
            <p:ph type="sldNum" sz="quarter" idx="12"/>
          </p:nvPr>
        </p:nvSpPr>
        <p:spPr/>
        <p:txBody>
          <a:bodyPr lIns="0" tIns="0" rIns="0" bIns="0">
            <a:noAutofit/>
          </a:bodyPr>
          <a:lstStyle>
            <a:lvl1pPr>
              <a:defRPr sz="1400">
                <a:solidFill>
                  <a:srgbClr val="FFFFFF"/>
                </a:solidFill>
              </a:defRPr>
            </a:lvl1pPr>
          </a:lstStyle>
          <a:p>
            <a:fld id="{ED977604-8DBC-4687-B3BF-A0FAF9C1E3F5}" type="slidenum">
              <a:rPr lang="fr-FR" smtClean="0"/>
              <a:pPr/>
              <a:t>‹N°›</a:t>
            </a:fld>
            <a:endParaRPr lang="fr-FR"/>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r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77604-8DBC-4687-B3BF-A0FAF9C1E3F5}" type="slidenum">
              <a:rPr lang="fr-FR" smtClean="0"/>
              <a:pPr/>
              <a:t>‹N°›</a:t>
            </a:fld>
            <a:endParaRPr lang="fr-FR"/>
          </a:p>
        </p:txBody>
      </p:sp>
      <p:sp>
        <p:nvSpPr>
          <p:cNvPr id="8" name="Espace réservé du contenu 7"/>
          <p:cNvSpPr>
            <a:spLocks noGrp="1"/>
          </p:cNvSpPr>
          <p:nvPr>
            <p:ph sz="quarter" idx="1"/>
          </p:nvPr>
        </p:nvSpPr>
        <p:spPr>
          <a:xfrm>
            <a:off x="914400" y="1447800"/>
            <a:ext cx="777240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ectangle à coins arrondis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a:xfrm>
            <a:off x="800100" y="6172200"/>
            <a:ext cx="4000500" cy="457200"/>
          </a:xfrm>
        </p:spPr>
        <p:txBody>
          <a:bodyPr/>
          <a:lstStyle/>
          <a:p>
            <a:endParaRPr lang="fr-F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146304" y="6208776"/>
            <a:ext cx="457200" cy="457200"/>
          </a:xfrm>
        </p:spPr>
        <p:txBody>
          <a:bodyPr/>
          <a:lstStyle/>
          <a:p>
            <a:fld id="{ED977604-8DBC-4687-B3BF-A0FAF9C1E3F5}"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D977604-8DBC-4687-B3BF-A0FAF9C1E3F5}" type="slidenum">
              <a:rPr lang="fr-FR" smtClean="0"/>
              <a:pPr/>
              <a:t>‹N°›</a:t>
            </a:fld>
            <a:endParaRPr lang="fr-FR"/>
          </a:p>
        </p:txBody>
      </p:sp>
      <p:sp>
        <p:nvSpPr>
          <p:cNvPr id="9" name="Espace réservé du contenu 8"/>
          <p:cNvSpPr>
            <a:spLocks noGrp="1"/>
          </p:cNvSpPr>
          <p:nvPr>
            <p:ph sz="quarter" idx="1"/>
          </p:nvPr>
        </p:nvSpPr>
        <p:spPr>
          <a:xfrm>
            <a:off x="91440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93395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914400" y="273050"/>
            <a:ext cx="7772400" cy="1143000"/>
          </a:xfrm>
        </p:spPr>
        <p:txBody>
          <a:bodyPr anchor="b" anchorCtr="0"/>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D977604-8DBC-4687-B3BF-A0FAF9C1E3F5}" type="slidenum">
              <a:rPr lang="fr-FR" smtClean="0"/>
              <a:pPr/>
              <a:t>‹N°›</a:t>
            </a:fld>
            <a:endParaRPr lang="fr-FR"/>
          </a:p>
        </p:txBody>
      </p:sp>
      <p:sp>
        <p:nvSpPr>
          <p:cNvPr id="11" name="Espace réservé du contenu 10"/>
          <p:cNvSpPr>
            <a:spLocks noGrp="1"/>
          </p:cNvSpPr>
          <p:nvPr>
            <p:ph sz="half" idx="2"/>
          </p:nvPr>
        </p:nvSpPr>
        <p:spPr>
          <a:xfrm>
            <a:off x="9144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half" idx="4"/>
          </p:nvPr>
        </p:nvSpPr>
        <p:spPr>
          <a:xfrm>
            <a:off x="49530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ectangle à coins arrondis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914400" y="273050"/>
            <a:ext cx="7772400" cy="1143000"/>
          </a:xfrm>
        </p:spPr>
        <p:txBody>
          <a:bodyPr anchor="b" anchorCtr="0"/>
          <a:lstStyle>
            <a:lvl1pPr algn="l">
              <a:buNone/>
              <a:defRPr sz="4000" b="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D977604-8DBC-4687-B3BF-A0FAF9C1E3F5}" type="slidenum">
              <a:rPr lang="fr-FR" smtClean="0"/>
              <a:pPr/>
              <a:t>‹N°›</a:t>
            </a:fld>
            <a:endParaRPr lang="fr-FR"/>
          </a:p>
        </p:txBody>
      </p:sp>
      <p:sp>
        <p:nvSpPr>
          <p:cNvPr id="11" name="Espace réservé du contenu 10"/>
          <p:cNvSpPr>
            <a:spLocks noGrp="1"/>
          </p:cNvSpPr>
          <p:nvPr>
            <p:ph sz="quarter" idx="1"/>
          </p:nvPr>
        </p:nvSpPr>
        <p:spPr>
          <a:xfrm>
            <a:off x="2971800" y="1600200"/>
            <a:ext cx="5715000" cy="44958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fr-FR" smtClean="0"/>
              <a:t>Cliquez pour modifier le style du titre</a:t>
            </a:r>
            <a:endParaRPr kumimoji="0" lang="en-US"/>
          </a:p>
        </p:txBody>
      </p:sp>
      <p:sp>
        <p:nvSpPr>
          <p:cNvPr id="4" name="Espace réservé du texte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6" name="Espace réservé du pied de page 5"/>
          <p:cNvSpPr>
            <a:spLocks noGrp="1"/>
          </p:cNvSpPr>
          <p:nvPr>
            <p:ph type="ftr" sz="quarter" idx="11"/>
          </p:nvPr>
        </p:nvSpPr>
        <p:spPr>
          <a:xfrm>
            <a:off x="914400" y="6172200"/>
            <a:ext cx="3886200" cy="457200"/>
          </a:xfrm>
        </p:spPr>
        <p:txBody>
          <a:bodyPr/>
          <a:lstStyle/>
          <a:p>
            <a:endParaRPr lang="fr-FR"/>
          </a:p>
        </p:txBody>
      </p:sp>
      <p:sp>
        <p:nvSpPr>
          <p:cNvPr id="7" name="Espace réservé du numéro de diapositive 6"/>
          <p:cNvSpPr>
            <a:spLocks noGrp="1"/>
          </p:cNvSpPr>
          <p:nvPr>
            <p:ph type="sldNum" sz="quarter" idx="12"/>
          </p:nvPr>
        </p:nvSpPr>
        <p:spPr>
          <a:xfrm>
            <a:off x="146304" y="6208776"/>
            <a:ext cx="457200" cy="457200"/>
          </a:xfrm>
        </p:spPr>
        <p:txBody>
          <a:bodyPr/>
          <a:lstStyle/>
          <a:p>
            <a:fld id="{ED977604-8DBC-4687-B3BF-A0FAF9C1E3F5}" type="slidenum">
              <a:rPr lang="fr-FR" smtClean="0"/>
              <a:pPr/>
              <a:t>‹N°›</a:t>
            </a:fld>
            <a:endParaRPr lang="fr-F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Espace réservé pour une image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fr-FR" smtClean="0"/>
              <a:t>Cliquez sur l'icône pour ajouter une image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1168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914400" y="274640"/>
            <a:ext cx="55626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ectangle à coins arrondis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Espace réservé du titre 21"/>
          <p:cNvSpPr>
            <a:spLocks noGrp="1"/>
          </p:cNvSpPr>
          <p:nvPr>
            <p:ph type="title"/>
          </p:nvPr>
        </p:nvSpPr>
        <p:spPr>
          <a:xfrm>
            <a:off x="914400" y="274638"/>
            <a:ext cx="7772400" cy="1143000"/>
          </a:xfrm>
          <a:prstGeom prst="rect">
            <a:avLst/>
          </a:prstGeom>
        </p:spPr>
        <p:txBody>
          <a:bodyPr bIns="91440" anchor="b" anchorCtr="0">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F69ECEAB-D2A0-49C0-B885-67E26AFAC993}" type="datetimeFigureOut">
              <a:rPr lang="fr-FR" smtClean="0"/>
              <a:pPr/>
              <a:t>11/05/2020</a:t>
            </a:fld>
            <a:endParaRPr lang="fr-FR"/>
          </a:p>
        </p:txBody>
      </p:sp>
      <p:sp>
        <p:nvSpPr>
          <p:cNvPr id="3" name="Espace réservé du pied de page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fr-FR"/>
          </a:p>
        </p:txBody>
      </p:sp>
      <p:sp>
        <p:nvSpPr>
          <p:cNvPr id="23" name="Espace réservé du numéro de diapositive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D977604-8DBC-4687-B3BF-A0FAF9C1E3F5}"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endParaRPr lang="fr-FR"/>
          </a:p>
        </p:txBody>
      </p:sp>
      <p:sp>
        <p:nvSpPr>
          <p:cNvPr id="2" name="Titre 1"/>
          <p:cNvSpPr>
            <a:spLocks noGrp="1"/>
          </p:cNvSpPr>
          <p:nvPr>
            <p:ph type="ctrTitle"/>
          </p:nvPr>
        </p:nvSpPr>
        <p:spPr/>
        <p:txBody>
          <a:bodyPr/>
          <a:lstStyle/>
          <a:p>
            <a:r>
              <a:rPr lang="fr-FR" dirty="0" smtClean="0"/>
              <a:t>SQL LMD</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fonctions de statistiques</a:t>
            </a:r>
            <a:endParaRPr lang="fr-FR" b="1" dirty="0"/>
          </a:p>
        </p:txBody>
      </p:sp>
      <p:sp>
        <p:nvSpPr>
          <p:cNvPr id="3" name="Espace réservé du contenu 2"/>
          <p:cNvSpPr>
            <a:spLocks noGrp="1"/>
          </p:cNvSpPr>
          <p:nvPr>
            <p:ph sz="quarter" idx="1"/>
          </p:nvPr>
        </p:nvSpPr>
        <p:spPr/>
        <p:txBody>
          <a:bodyPr/>
          <a:lstStyle/>
          <a:p>
            <a:pPr>
              <a:buFont typeface="Arial" pitchFamily="34" charset="0"/>
              <a:buChar char="•"/>
            </a:pPr>
            <a:r>
              <a:rPr lang="fr-FR" dirty="0" smtClean="0"/>
              <a:t>MAX() pour récupérer la plus haute valeur. Pratique pour savoir l’achat le plus cher </a:t>
            </a:r>
          </a:p>
          <a:p>
            <a:pPr>
              <a:buFont typeface="Arial" pitchFamily="34" charset="0"/>
              <a:buChar char="•"/>
            </a:pPr>
            <a:endParaRPr lang="fr-FR" dirty="0" smtClean="0"/>
          </a:p>
          <a:p>
            <a:pPr>
              <a:buFont typeface="Arial" pitchFamily="34" charset="0"/>
              <a:buChar char="•"/>
            </a:pPr>
            <a:r>
              <a:rPr lang="fr-FR" dirty="0" smtClean="0"/>
              <a:t> MIN() pour récupérer la plus petite valeur. Utile par exemple pour connaître la date du premier achat d’un client</a:t>
            </a:r>
          </a:p>
          <a:p>
            <a:pPr>
              <a:buNone/>
            </a:pPr>
            <a:endParaRPr lang="fr-FR" dirty="0" smtClean="0"/>
          </a:p>
          <a:p>
            <a:pPr>
              <a:buFont typeface="Arial" pitchFamily="34" charset="0"/>
              <a:buChar char="•"/>
            </a:pPr>
            <a:r>
              <a:rPr lang="fr-FR" dirty="0" smtClean="0"/>
              <a:t> SUM() pour calculer la somme de plusieurs lignes. Permet par exemple de connaître le total de tous les achats d’un client </a:t>
            </a:r>
            <a:endParaRPr lang="fr-F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fonctions de statistiques</a:t>
            </a:r>
            <a:endParaRPr lang="fr-FR" b="1" dirty="0"/>
          </a:p>
        </p:txBody>
      </p:sp>
      <p:sp>
        <p:nvSpPr>
          <p:cNvPr id="3" name="Espace réservé du contenu 2"/>
          <p:cNvSpPr>
            <a:spLocks noGrp="1"/>
          </p:cNvSpPr>
          <p:nvPr>
            <p:ph sz="quarter" idx="1"/>
          </p:nvPr>
        </p:nvSpPr>
        <p:spPr/>
        <p:txBody>
          <a:bodyPr/>
          <a:lstStyle/>
          <a:p>
            <a:pPr>
              <a:buNone/>
            </a:pPr>
            <a:r>
              <a:rPr lang="fr-FR" dirty="0" smtClean="0"/>
              <a:t>Il existe plusieurs fonctions qui peuvent être utilisées pour manipuler plusieurs enregistrements, il s’agit des fonctions d’agrégations statistiques, les principales sont les suivantes : </a:t>
            </a:r>
          </a:p>
          <a:p>
            <a:pPr>
              <a:buNone/>
            </a:pPr>
            <a:endParaRPr lang="fr-FR" dirty="0" smtClean="0"/>
          </a:p>
          <a:p>
            <a:r>
              <a:rPr lang="fr-FR" dirty="0" smtClean="0"/>
              <a:t>AVG() pour calculer la moyenne d’un set de valeur. Permet de connaître le prix du panier moyen pour de chaque client</a:t>
            </a:r>
          </a:p>
          <a:p>
            <a:pPr>
              <a:buNone/>
            </a:pPr>
            <a:endParaRPr lang="fr-FR" dirty="0" smtClean="0"/>
          </a:p>
          <a:p>
            <a:r>
              <a:rPr lang="fr-FR" dirty="0" smtClean="0"/>
              <a:t> COUNT() pour compter le nombre de lignes concernées. Permet de savoir combien d’achats a été effectué par chaque client </a:t>
            </a:r>
            <a:endParaRPr lang="fr-F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Exemple sur les fonctions statistiques</a:t>
            </a:r>
            <a:endParaRPr lang="fr-FR" dirty="0"/>
          </a:p>
        </p:txBody>
      </p:sp>
      <p:pic>
        <p:nvPicPr>
          <p:cNvPr id="4" name="Picture 2"/>
          <p:cNvPicPr>
            <a:picLocks noChangeAspect="1" noChangeArrowheads="1"/>
          </p:cNvPicPr>
          <p:nvPr/>
        </p:nvPicPr>
        <p:blipFill>
          <a:blip r:embed="rId2" cstate="print"/>
          <a:srcRect/>
          <a:stretch>
            <a:fillRect/>
          </a:stretch>
        </p:blipFill>
        <p:spPr bwMode="auto">
          <a:xfrm>
            <a:off x="1071538" y="1928802"/>
            <a:ext cx="6643734" cy="3857641"/>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GROUP BY</a:t>
            </a:r>
            <a:endParaRPr lang="fr-FR" b="1" dirty="0"/>
          </a:p>
        </p:txBody>
      </p:sp>
      <p:sp>
        <p:nvSpPr>
          <p:cNvPr id="3" name="Espace réservé du contenu 2"/>
          <p:cNvSpPr>
            <a:spLocks noGrp="1"/>
          </p:cNvSpPr>
          <p:nvPr>
            <p:ph sz="quarter" idx="1"/>
          </p:nvPr>
        </p:nvSpPr>
        <p:spPr>
          <a:xfrm>
            <a:off x="785786" y="2071678"/>
            <a:ext cx="7772400" cy="2571768"/>
          </a:xfrm>
        </p:spPr>
        <p:txBody>
          <a:bodyPr>
            <a:normAutofit/>
          </a:bodyPr>
          <a:lstStyle/>
          <a:p>
            <a:pPr algn="just">
              <a:buNone/>
            </a:pPr>
            <a:r>
              <a:rPr lang="fr-FR" dirty="0" smtClean="0"/>
              <a:t>	La commande GROUP BY est utilisée en SQL pour grouper plusieurs résultats et utiliser une fonction de totaux sur un groupe de résultat. Par exemple une commande peut contenir des produits. Donc, on peut grouper tous les produits de chaque commande pour le prix total.</a:t>
            </a:r>
            <a:endParaRPr lang="fr-FR" dirty="0"/>
          </a:p>
        </p:txBody>
      </p:sp>
      <p:sp>
        <p:nvSpPr>
          <p:cNvPr id="4" name="Rectangle 3"/>
          <p:cNvSpPr/>
          <p:nvPr/>
        </p:nvSpPr>
        <p:spPr>
          <a:xfrm>
            <a:off x="1142976" y="4286256"/>
            <a:ext cx="7143800" cy="461665"/>
          </a:xfrm>
          <a:prstGeom prst="rect">
            <a:avLst/>
          </a:prstGeom>
        </p:spPr>
        <p:txBody>
          <a:bodyPr wrap="square">
            <a:spAutoFit/>
          </a:bodyPr>
          <a:lstStyle/>
          <a:p>
            <a:r>
              <a:rPr lang="fr-FR" sz="2400" dirty="0" smtClean="0"/>
              <a:t>la commande GROUP BY s’utilise de la façon suivante :</a:t>
            </a:r>
            <a:endParaRPr lang="fr-FR" sz="2400" dirty="0"/>
          </a:p>
        </p:txBody>
      </p:sp>
      <p:pic>
        <p:nvPicPr>
          <p:cNvPr id="1026" name="Picture 2"/>
          <p:cNvPicPr>
            <a:picLocks noChangeAspect="1" noChangeArrowheads="1"/>
          </p:cNvPicPr>
          <p:nvPr/>
        </p:nvPicPr>
        <p:blipFill>
          <a:blip r:embed="rId2"/>
          <a:srcRect/>
          <a:stretch>
            <a:fillRect/>
          </a:stretch>
        </p:blipFill>
        <p:spPr bwMode="auto">
          <a:xfrm>
            <a:off x="1142976" y="5072074"/>
            <a:ext cx="5457825" cy="685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 de GROUP BY </a:t>
            </a:r>
            <a:endParaRPr lang="fr-FR" dirty="0"/>
          </a:p>
        </p:txBody>
      </p:sp>
      <p:pic>
        <p:nvPicPr>
          <p:cNvPr id="2050" name="Picture 2"/>
          <p:cNvPicPr>
            <a:picLocks noChangeAspect="1" noChangeArrowheads="1"/>
          </p:cNvPicPr>
          <p:nvPr/>
        </p:nvPicPr>
        <p:blipFill>
          <a:blip r:embed="rId2"/>
          <a:srcRect/>
          <a:stretch>
            <a:fillRect/>
          </a:stretch>
        </p:blipFill>
        <p:spPr bwMode="auto">
          <a:xfrm>
            <a:off x="928662" y="1643050"/>
            <a:ext cx="6924675" cy="15240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571604" y="3500438"/>
            <a:ext cx="5476875" cy="733425"/>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928662" y="4714884"/>
            <a:ext cx="6915150" cy="1085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HAVING</a:t>
            </a:r>
            <a:endParaRPr lang="fr-FR" dirty="0"/>
          </a:p>
        </p:txBody>
      </p:sp>
      <p:sp>
        <p:nvSpPr>
          <p:cNvPr id="3" name="Espace réservé du contenu 2"/>
          <p:cNvSpPr>
            <a:spLocks noGrp="1"/>
          </p:cNvSpPr>
          <p:nvPr>
            <p:ph sz="quarter" idx="1"/>
          </p:nvPr>
        </p:nvSpPr>
        <p:spPr/>
        <p:txBody>
          <a:bodyPr/>
          <a:lstStyle/>
          <a:p>
            <a:pPr algn="just">
              <a:buNone/>
            </a:pPr>
            <a:r>
              <a:rPr lang="fr-FR" dirty="0" smtClean="0"/>
              <a:t>La condition HAVING en SQL est presque similaire à WHERE à la seule différence que HAVING permet de filtrer en utilisant des fonctions telles que SUM(), COUNT(), AVG(), MIN</a:t>
            </a:r>
            <a:r>
              <a:rPr lang="fr-FR" dirty="0" smtClean="0"/>
              <a:t>() </a:t>
            </a:r>
            <a:r>
              <a:rPr lang="fr-FR" dirty="0" smtClean="0"/>
              <a:t>ou MAX</a:t>
            </a:r>
            <a:r>
              <a:rPr lang="fr-FR" dirty="0" smtClean="0"/>
              <a:t>().</a:t>
            </a:r>
          </a:p>
          <a:p>
            <a:pPr algn="just">
              <a:buNone/>
            </a:pPr>
            <a:endParaRPr lang="fr-FR" dirty="0" smtClean="0"/>
          </a:p>
          <a:p>
            <a:pPr algn="just">
              <a:buNone/>
            </a:pPr>
            <a:r>
              <a:rPr lang="fr-FR" dirty="0" smtClean="0"/>
              <a:t>L’utilisation de HAVING s’utilise de la manière suivante :</a:t>
            </a:r>
            <a:endParaRPr lang="fr-FR" dirty="0"/>
          </a:p>
        </p:txBody>
      </p:sp>
      <p:pic>
        <p:nvPicPr>
          <p:cNvPr id="1026" name="Picture 2"/>
          <p:cNvPicPr>
            <a:picLocks noChangeAspect="1" noChangeArrowheads="1"/>
          </p:cNvPicPr>
          <p:nvPr/>
        </p:nvPicPr>
        <p:blipFill>
          <a:blip r:embed="rId2"/>
          <a:srcRect/>
          <a:stretch>
            <a:fillRect/>
          </a:stretch>
        </p:blipFill>
        <p:spPr bwMode="auto">
          <a:xfrm>
            <a:off x="1571604" y="4286256"/>
            <a:ext cx="5467350" cy="9429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 sur HAVING</a:t>
            </a:r>
            <a:endParaRPr lang="fr-FR" dirty="0"/>
          </a:p>
        </p:txBody>
      </p:sp>
      <p:pic>
        <p:nvPicPr>
          <p:cNvPr id="2050" name="Picture 2"/>
          <p:cNvPicPr>
            <a:picLocks noGrp="1" noChangeAspect="1" noChangeArrowheads="1"/>
          </p:cNvPicPr>
          <p:nvPr>
            <p:ph sz="quarter" idx="1"/>
          </p:nvPr>
        </p:nvPicPr>
        <p:blipFill>
          <a:blip r:embed="rId2"/>
          <a:srcRect/>
          <a:stretch>
            <a:fillRect/>
          </a:stretch>
        </p:blipFill>
        <p:spPr bwMode="auto">
          <a:xfrm>
            <a:off x="928662" y="1785926"/>
            <a:ext cx="6953250" cy="1657350"/>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a:srcRect/>
          <a:stretch>
            <a:fillRect/>
          </a:stretch>
        </p:blipFill>
        <p:spPr bwMode="auto">
          <a:xfrm>
            <a:off x="1785918" y="3643314"/>
            <a:ext cx="5467350" cy="895350"/>
          </a:xfrm>
          <a:prstGeom prst="rect">
            <a:avLst/>
          </a:prstGeom>
          <a:noFill/>
          <a:ln w="9525">
            <a:noFill/>
            <a:miter lim="800000"/>
            <a:headEnd/>
            <a:tailEnd/>
          </a:ln>
          <a:effectLst/>
        </p:spPr>
      </p:pic>
      <p:pic>
        <p:nvPicPr>
          <p:cNvPr id="2053" name="Picture 5"/>
          <p:cNvPicPr>
            <a:picLocks noChangeAspect="1" noChangeArrowheads="1"/>
          </p:cNvPicPr>
          <p:nvPr/>
        </p:nvPicPr>
        <p:blipFill>
          <a:blip r:embed="rId4"/>
          <a:srcRect/>
          <a:stretch>
            <a:fillRect/>
          </a:stretch>
        </p:blipFill>
        <p:spPr bwMode="auto">
          <a:xfrm>
            <a:off x="1000100" y="4929198"/>
            <a:ext cx="6905625" cy="800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 6</a:t>
            </a:r>
            <a:endParaRPr lang="fr-FR" dirty="0"/>
          </a:p>
        </p:txBody>
      </p:sp>
      <p:sp>
        <p:nvSpPr>
          <p:cNvPr id="3" name="Espace réservé du contenu 2"/>
          <p:cNvSpPr>
            <a:spLocks noGrp="1"/>
          </p:cNvSpPr>
          <p:nvPr>
            <p:ph sz="quarter" idx="1"/>
          </p:nvPr>
        </p:nvSpPr>
        <p:spPr/>
        <p:txBody>
          <a:bodyPr/>
          <a:lstStyle/>
          <a:p>
            <a:r>
              <a:rPr lang="fr-FR" dirty="0" smtClean="0"/>
              <a:t>Compter le nombre de client</a:t>
            </a:r>
          </a:p>
          <a:p>
            <a:r>
              <a:rPr lang="fr-FR" dirty="0" smtClean="0"/>
              <a:t>Compter le nombre de commande passé par </a:t>
            </a:r>
            <a:r>
              <a:rPr lang="fr-FR" smtClean="0"/>
              <a:t>chaque client</a:t>
            </a:r>
            <a:endParaRPr lang="fr-FR" dirty="0" smtClean="0"/>
          </a:p>
          <a:p>
            <a:r>
              <a:rPr lang="fr-FR" dirty="0" smtClean="0"/>
              <a:t>Donner le nombre de bière dans la commande 1</a:t>
            </a:r>
          </a:p>
          <a:p>
            <a:r>
              <a:rPr lang="fr-FR" dirty="0" smtClean="0"/>
              <a:t>Afficher le numéro de commande contenant plus de 20 bières</a:t>
            </a:r>
          </a:p>
          <a:p>
            <a:endParaRPr lang="fr-FR" dirty="0" smtClean="0"/>
          </a:p>
          <a:p>
            <a:endParaRPr lang="fr-FR" dirty="0" smtClean="0"/>
          </a:p>
          <a:p>
            <a:endParaRPr lang="fr-F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pitaux">
  <a:themeElements>
    <a:clrScheme name="Capitaux">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pitaux">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apitaux">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152</TotalTime>
  <Words>246</Words>
  <Application>Microsoft Office PowerPoint</Application>
  <PresentationFormat>Affichage à l'écran (4:3)</PresentationFormat>
  <Paragraphs>29</Paragraphs>
  <Slides>9</Slides>
  <Notes>0</Notes>
  <HiddenSlides>0</HiddenSlides>
  <MMClips>0</MMClips>
  <ScaleCrop>false</ScaleCrop>
  <HeadingPairs>
    <vt:vector size="4" baseType="variant">
      <vt:variant>
        <vt:lpstr>Thème</vt:lpstr>
      </vt:variant>
      <vt:variant>
        <vt:i4>1</vt:i4>
      </vt:variant>
      <vt:variant>
        <vt:lpstr>Titres des diapositives</vt:lpstr>
      </vt:variant>
      <vt:variant>
        <vt:i4>9</vt:i4>
      </vt:variant>
    </vt:vector>
  </HeadingPairs>
  <TitlesOfParts>
    <vt:vector size="10" baseType="lpstr">
      <vt:lpstr>Capitaux</vt:lpstr>
      <vt:lpstr>SQL LMD</vt:lpstr>
      <vt:lpstr>fonctions de statistiques</vt:lpstr>
      <vt:lpstr>fonctions de statistiques</vt:lpstr>
      <vt:lpstr>Exemple sur les fonctions statistiques</vt:lpstr>
      <vt:lpstr>GROUP BY</vt:lpstr>
      <vt:lpstr>Exemple de GROUP BY </vt:lpstr>
      <vt:lpstr>HAVING</vt:lpstr>
      <vt:lpstr>Exemple sur HAVING</vt:lpstr>
      <vt:lpstr>Exercice 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LMD</dc:title>
  <dc:creator>EMIT</dc:creator>
  <cp:lastModifiedBy>EMIT</cp:lastModifiedBy>
  <cp:revision>52</cp:revision>
  <dcterms:created xsi:type="dcterms:W3CDTF">2020-05-11T12:51:34Z</dcterms:created>
  <dcterms:modified xsi:type="dcterms:W3CDTF">2020-05-11T15:47:23Z</dcterms:modified>
</cp:coreProperties>
</file>